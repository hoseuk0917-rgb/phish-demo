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78" r:id="rId4"/>
    <p:sldId id="279" r:id="rId5"/>
    <p:sldId id="280" r:id="rId6"/>
    <p:sldId id="281" r:id="rId7"/>
    <p:sldId id="284" r:id="rId8"/>
    <p:sldId id="282" r:id="rId9"/>
    <p:sldId id="283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359"/>
    <a:srgbClr val="C12026"/>
    <a:srgbClr val="004889"/>
    <a:srgbClr val="004687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9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35619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582645" y="1766158"/>
            <a:ext cx="9604661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ko-KR" altLang="en-US" sz="4000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피싱</a:t>
            </a:r>
            <a:r>
              <a:rPr lang="en-US" altLang="ko-KR" sz="4000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·</a:t>
            </a:r>
            <a:r>
              <a:rPr lang="ko-KR" altLang="en-US" sz="4000" dirty="0" err="1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스캠</a:t>
            </a:r>
            <a:r>
              <a:rPr lang="ko-KR" altLang="en-US" sz="4000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 예방을 위한 서비스 개발</a:t>
            </a:r>
            <a:endParaRPr lang="en-US" altLang="ko-KR" sz="40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3741564546"/>
              </p:ext>
            </p:extLst>
          </p:nvPr>
        </p:nvGraphicFramePr>
        <p:xfrm>
          <a:off x="3386675" y="4470435"/>
          <a:ext cx="5418650" cy="1089590"/>
        </p:xfrm>
        <a:graphic>
          <a:graphicData uri="http://schemas.openxmlformats.org/drawingml/2006/table">
            <a:tbl>
              <a:tblPr firstRow="1" bandRow="1">
                <a:noFill/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언행일치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서비스명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맥락기반 피싱</a:t>
                      </a:r>
                      <a:r>
                        <a:rPr lang="en-US" altLang="ko-KR" sz="1800" u="none" strike="noStrike" cap="none" dirty="0"/>
                        <a:t>,</a:t>
                      </a:r>
                      <a:r>
                        <a:rPr lang="ko-KR" altLang="en-US" sz="1800" u="none" strike="noStrike" cap="none" dirty="0" err="1"/>
                        <a:t>스캠</a:t>
                      </a:r>
                      <a:r>
                        <a:rPr lang="ko-KR" altLang="en-US" sz="1800" u="none" strike="noStrike" cap="none" dirty="0"/>
                        <a:t> 방지 어플리케이션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531980"/>
                  </a:ext>
                </a:extLst>
              </a:tr>
            </a:tbl>
          </a:graphicData>
        </a:graphic>
      </p:graphicFrame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84371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"/>
          <p:cNvCxnSpPr>
            <a:cxnSpLocks/>
          </p:cNvCxnSpPr>
          <p:nvPr/>
        </p:nvCxnSpPr>
        <p:spPr>
          <a:xfrm>
            <a:off x="1582645" y="2607351"/>
            <a:ext cx="9508142" cy="0"/>
          </a:xfrm>
          <a:prstGeom prst="straightConnector1">
            <a:avLst/>
          </a:prstGeom>
          <a:noFill/>
          <a:ln w="38100" cap="flat" cmpd="sng">
            <a:solidFill>
              <a:srgbClr val="C1202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26" name="Picture 2" descr="주)데이터유니버스 2025년 기업정보 | 직원수, 근무환경, 복리후생 등 - 사람인">
            <a:extLst>
              <a:ext uri="{FF2B5EF4-FFF2-40B4-BE49-F238E27FC236}">
                <a16:creationId xmlns:a16="http://schemas.microsoft.com/office/drawing/2014/main" id="{031C83CA-C127-2B82-7556-53661DC85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817" y="6443474"/>
            <a:ext cx="1524000" cy="414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843A480D-A23F-1A8F-080E-E9B0778DF5F8}"/>
              </a:ext>
            </a:extLst>
          </p:cNvPr>
          <p:cNvSpPr txBox="1"/>
          <p:nvPr/>
        </p:nvSpPr>
        <p:spPr>
          <a:xfrm>
            <a:off x="4645457" y="2802248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MVP </a:t>
            </a:r>
            <a:r>
              <a:rPr lang="ko-KR" altLang="en-US" sz="2800">
                <a:solidFill>
                  <a:srgbClr val="20212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제안</a:t>
            </a:r>
            <a:r>
              <a:rPr lang="ko-KR" altLang="en-US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82A0D5-5563-BD1F-6E05-4BFFF3CA4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176200"/>
              </p:ext>
            </p:extLst>
          </p:nvPr>
        </p:nvGraphicFramePr>
        <p:xfrm>
          <a:off x="744427" y="1145754"/>
          <a:ext cx="10776155" cy="4699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648815269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1921105622"/>
                    </a:ext>
                  </a:extLst>
                </a:gridCol>
              </a:tblGrid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팀명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i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언행일치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80422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팀원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i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고호석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227288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프로젝트명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i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 맥락 기반 위험 대화 실시간 분석 및 피싱</a:t>
                      </a:r>
                      <a:r>
                        <a:rPr lang="en-US" altLang="ko-KR" sz="1400" i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400" i="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스캠</a:t>
                      </a:r>
                      <a:r>
                        <a:rPr lang="en-US" altLang="ko-KR" sz="1400" i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400" i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방지 서비스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4307777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세부 주제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스캠방지</a:t>
                      </a:r>
                      <a:r>
                        <a:rPr lang="ko-KR" altLang="en-US" dirty="0"/>
                        <a:t> 예방형 정밀 실시간 분석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/>
                        <a:t>탐지 서비스</a:t>
                      </a:r>
                      <a:endParaRPr lang="ko-KR" altLang="en-US" sz="1400" i="1" dirty="0">
                        <a:solidFill>
                          <a:srgbClr val="0070C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938048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한줄소개</a:t>
                      </a:r>
                      <a:endParaRPr lang="en-US" altLang="ko-KR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맥락 기반 </a:t>
                      </a:r>
                      <a:r>
                        <a:rPr lang="ko-KR" altLang="en-US" dirty="0" err="1"/>
                        <a:t>프리필터로</a:t>
                      </a:r>
                      <a:r>
                        <a:rPr lang="ko-KR" altLang="en-US" dirty="0"/>
                        <a:t> 빠르게 걸고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정밀분석으로 확정단서를 제시해 사용자가 “지금 뭘 하면 안 </a:t>
                      </a:r>
                      <a:r>
                        <a:rPr lang="ko-KR" altLang="en-US" dirty="0" err="1"/>
                        <a:t>되는지”를</a:t>
                      </a:r>
                      <a:r>
                        <a:rPr lang="ko-KR" altLang="en-US" dirty="0"/>
                        <a:t> 즉시 알려주는 </a:t>
                      </a:r>
                      <a:r>
                        <a:rPr lang="ko-KR" altLang="en-US" dirty="0" err="1"/>
                        <a:t>스캠방지</a:t>
                      </a:r>
                      <a:r>
                        <a:rPr lang="ko-KR" altLang="en-US" dirty="0"/>
                        <a:t> 예방형 서비스</a:t>
                      </a:r>
                      <a:endParaRPr lang="ko-KR" altLang="en-US" sz="1400" i="1" dirty="0">
                        <a:solidFill>
                          <a:srgbClr val="0070C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9393612"/>
                  </a:ext>
                </a:extLst>
              </a:tr>
            </a:tbl>
          </a:graphicData>
        </a:graphic>
      </p:graphicFrame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B1DBEA1A-7DC9-3798-9EAA-C04652D3DCC4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99;p2">
            <a:extLst>
              <a:ext uri="{FF2B5EF4-FFF2-40B4-BE49-F238E27FC236}">
                <a16:creationId xmlns:a16="http://schemas.microsoft.com/office/drawing/2014/main" id="{042EBB0F-0210-2C73-6523-51C3A0EB055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C1202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" name="Google Shape;101;p2">
            <a:extLst>
              <a:ext uri="{FF2B5EF4-FFF2-40B4-BE49-F238E27FC236}">
                <a16:creationId xmlns:a16="http://schemas.microsoft.com/office/drawing/2014/main" id="{9F08DF74-238C-9073-1522-54C6B39AB5F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" name="Google Shape;102;p2">
            <a:extLst>
              <a:ext uri="{FF2B5EF4-FFF2-40B4-BE49-F238E27FC236}">
                <a16:creationId xmlns:a16="http://schemas.microsoft.com/office/drawing/2014/main" id="{92B34A29-70DB-0172-C890-5E355A3C66E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1. Summary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" name="Google Shape;100;p2">
            <a:extLst>
              <a:ext uri="{FF2B5EF4-FFF2-40B4-BE49-F238E27FC236}">
                <a16:creationId xmlns:a16="http://schemas.microsoft.com/office/drawing/2014/main" id="{3F7BDF59-2BA1-419C-1D28-41EEC6C349E7}"/>
              </a:ext>
            </a:extLst>
          </p:cNvPr>
          <p:cNvSpPr txBox="1"/>
          <p:nvPr/>
        </p:nvSpPr>
        <p:spPr>
          <a:xfrm>
            <a:off x="8742667" y="229867"/>
            <a:ext cx="3532681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피싱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ko-KR" altLang="en-US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스캠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예방을 위한 서비스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경진대회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" name="Google Shape;92;p1">
            <a:extLst>
              <a:ext uri="{FF2B5EF4-FFF2-40B4-BE49-F238E27FC236}">
                <a16:creationId xmlns:a16="http://schemas.microsoft.com/office/drawing/2014/main" id="{792A48B7-2ABE-BC78-52B6-9F8FEA4D66C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84371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2" descr="주)데이터유니버스 2025년 기업정보 | 직원수, 근무환경, 복리후생 등 - 사람인">
            <a:extLst>
              <a:ext uri="{FF2B5EF4-FFF2-40B4-BE49-F238E27FC236}">
                <a16:creationId xmlns:a16="http://schemas.microsoft.com/office/drawing/2014/main" id="{F9F771B8-8872-574C-2E8B-00AD7F6C1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817" y="6443474"/>
            <a:ext cx="1524000" cy="414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A7330DB1-95E4-4D38-F6A4-9BB98AC14BD1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2777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문제 정의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oogle Shape;92;p1">
            <a:extLst>
              <a:ext uri="{FF2B5EF4-FFF2-40B4-BE49-F238E27FC236}">
                <a16:creationId xmlns:a16="http://schemas.microsoft.com/office/drawing/2014/main" id="{59B198F5-FED7-BD56-F3EA-951B66440C1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84371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2" descr="주)데이터유니버스 2025년 기업정보 | 직원수, 근무환경, 복리후생 등 - 사람인">
            <a:extLst>
              <a:ext uri="{FF2B5EF4-FFF2-40B4-BE49-F238E27FC236}">
                <a16:creationId xmlns:a16="http://schemas.microsoft.com/office/drawing/2014/main" id="{51E60443-F87F-C78D-B8AD-1955B54BA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817" y="6443474"/>
            <a:ext cx="1524000" cy="414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Google Shape;99;p2">
            <a:extLst>
              <a:ext uri="{FF2B5EF4-FFF2-40B4-BE49-F238E27FC236}">
                <a16:creationId xmlns:a16="http://schemas.microsoft.com/office/drawing/2014/main" id="{7CAF907E-3459-F8E9-D1FF-24DCFE328562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C1202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01;p2">
            <a:extLst>
              <a:ext uri="{FF2B5EF4-FFF2-40B4-BE49-F238E27FC236}">
                <a16:creationId xmlns:a16="http://schemas.microsoft.com/office/drawing/2014/main" id="{4EC0E0D7-51B1-22EB-F85A-AA08B30238BF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69F5F16A-E189-D103-8849-37E8D603F1C8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9612BDE1-2DB4-F98A-EEFE-0BB3394765CA}"/>
              </a:ext>
            </a:extLst>
          </p:cNvPr>
          <p:cNvSpPr txBox="1"/>
          <p:nvPr/>
        </p:nvSpPr>
        <p:spPr>
          <a:xfrm>
            <a:off x="8742667" y="229867"/>
            <a:ext cx="3532681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피싱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ko-KR" altLang="en-US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스캠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예방을 위한 서비스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경진대회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0C81AC-886A-79BA-DA0F-D13E946FBD8B}"/>
              </a:ext>
            </a:extLst>
          </p:cNvPr>
          <p:cNvSpPr txBox="1"/>
          <p:nvPr/>
        </p:nvSpPr>
        <p:spPr>
          <a:xfrm>
            <a:off x="939332" y="1808384"/>
            <a:ext cx="34006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○</a:t>
            </a:r>
            <a:r>
              <a:rPr lang="ko-KR" altLang="en-US" b="1" dirty="0">
                <a:solidFill>
                  <a:schemeClr val="tx1"/>
                </a:solidFill>
              </a:rPr>
              <a:t>  최근 보이스피싱 피해 급증</a:t>
            </a:r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pPr marL="185738" indent="-185738"/>
            <a:r>
              <a:rPr lang="en-US" altLang="ko-KR" b="1" dirty="0">
                <a:solidFill>
                  <a:schemeClr val="tx1"/>
                </a:solidFill>
              </a:rPr>
              <a:t> - </a:t>
            </a:r>
            <a:r>
              <a:rPr lang="ko-KR" altLang="en-US" dirty="0">
                <a:solidFill>
                  <a:schemeClr val="tx1"/>
                </a:solidFill>
              </a:rPr>
              <a:t>경찰청 보이스피싱 통합대응단에 따르면 </a:t>
            </a:r>
            <a:r>
              <a:rPr lang="en-US" altLang="ko-KR" dirty="0">
                <a:solidFill>
                  <a:schemeClr val="tx1"/>
                </a:solidFill>
              </a:rPr>
              <a:t>25.11.24. </a:t>
            </a:r>
            <a:r>
              <a:rPr lang="ko-KR" altLang="en-US" dirty="0">
                <a:solidFill>
                  <a:schemeClr val="tx1"/>
                </a:solidFill>
              </a:rPr>
              <a:t>기준 사상 처음 피해액 </a:t>
            </a:r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ko-KR" altLang="en-US" b="1" dirty="0">
                <a:solidFill>
                  <a:schemeClr val="tx1"/>
                </a:solidFill>
              </a:rPr>
              <a:t>조원 </a:t>
            </a:r>
            <a:r>
              <a:rPr lang="ko-KR" altLang="en-US" dirty="0">
                <a:solidFill>
                  <a:schemeClr val="tx1"/>
                </a:solidFill>
              </a:rPr>
              <a:t>넘어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9" name="그림 18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BACF65-5529-A30B-54C5-96FF82E38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20" y="3429000"/>
            <a:ext cx="3509625" cy="2128854"/>
          </a:xfrm>
          <a:prstGeom prst="rect">
            <a:avLst/>
          </a:prstGeom>
        </p:spPr>
      </p:pic>
      <p:pic>
        <p:nvPicPr>
          <p:cNvPr id="21" name="그림 20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4B176D-3603-A1F5-10CE-9121CBBAD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0134" y="4108281"/>
            <a:ext cx="2525475" cy="149449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B307D9B-59DE-B905-68E1-A49455175B32}"/>
              </a:ext>
            </a:extLst>
          </p:cNvPr>
          <p:cNvSpPr txBox="1"/>
          <p:nvPr/>
        </p:nvSpPr>
        <p:spPr>
          <a:xfrm>
            <a:off x="649420" y="5615368"/>
            <a:ext cx="3400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5738" indent="-185738" algn="ctr"/>
            <a:r>
              <a:rPr lang="en-US" altLang="ko-KR" dirty="0">
                <a:solidFill>
                  <a:schemeClr val="tx1"/>
                </a:solidFill>
              </a:rPr>
              <a:t>&lt;</a:t>
            </a:r>
            <a:r>
              <a:rPr lang="ko-KR" altLang="en-US" dirty="0">
                <a:solidFill>
                  <a:schemeClr val="tx1"/>
                </a:solidFill>
              </a:rPr>
              <a:t>한경일보</a:t>
            </a:r>
            <a:r>
              <a:rPr lang="en-US" altLang="ko-KR" dirty="0">
                <a:solidFill>
                  <a:schemeClr val="tx1"/>
                </a:solidFill>
              </a:rPr>
              <a:t>, ‘25.11.24.&gt;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F48141-0107-59C0-DAC9-166BB9AC6BD8}"/>
              </a:ext>
            </a:extLst>
          </p:cNvPr>
          <p:cNvSpPr txBox="1"/>
          <p:nvPr/>
        </p:nvSpPr>
        <p:spPr>
          <a:xfrm>
            <a:off x="4346110" y="1808383"/>
            <a:ext cx="34006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○</a:t>
            </a:r>
            <a:r>
              <a:rPr lang="ko-KR" altLang="en-US" b="1" dirty="0">
                <a:solidFill>
                  <a:schemeClr val="tx1"/>
                </a:solidFill>
              </a:rPr>
              <a:t>  </a:t>
            </a:r>
            <a:r>
              <a:rPr lang="ko-KR" altLang="en-US" b="1" dirty="0" err="1">
                <a:solidFill>
                  <a:schemeClr val="tx1"/>
                </a:solidFill>
              </a:rPr>
              <a:t>번호변작</a:t>
            </a:r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ko-KR" altLang="en-US" b="1" dirty="0">
                <a:solidFill>
                  <a:schemeClr val="tx1"/>
                </a:solidFill>
              </a:rPr>
              <a:t>등 수법 </a:t>
            </a:r>
            <a:r>
              <a:rPr lang="ko-KR" altLang="en-US" b="1" dirty="0" err="1">
                <a:solidFill>
                  <a:schemeClr val="tx1"/>
                </a:solidFill>
              </a:rPr>
              <a:t>다양화</a:t>
            </a:r>
            <a:r>
              <a:rPr lang="ko-KR" altLang="en-US" b="1" dirty="0" err="1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〮</a:t>
            </a:r>
            <a:r>
              <a:rPr lang="ko-KR" altLang="en-US" b="1" dirty="0" err="1">
                <a:solidFill>
                  <a:schemeClr val="tx1"/>
                </a:solidFill>
              </a:rPr>
              <a:t>고도화</a:t>
            </a:r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pPr marL="185738" indent="-185738"/>
            <a:r>
              <a:rPr lang="en-US" altLang="ko-KR" b="1" dirty="0">
                <a:solidFill>
                  <a:schemeClr val="tx1"/>
                </a:solidFill>
              </a:rPr>
              <a:t> - </a:t>
            </a:r>
            <a:r>
              <a:rPr lang="en-US" altLang="ko-KR" dirty="0">
                <a:solidFill>
                  <a:schemeClr val="tx1"/>
                </a:solidFill>
              </a:rPr>
              <a:t>070 </a:t>
            </a:r>
            <a:r>
              <a:rPr lang="ko-KR" altLang="en-US" dirty="0">
                <a:solidFill>
                  <a:schemeClr val="tx1"/>
                </a:solidFill>
              </a:rPr>
              <a:t>등 </a:t>
            </a:r>
            <a:r>
              <a:rPr lang="ko-KR" altLang="en-US" dirty="0" err="1">
                <a:solidFill>
                  <a:schemeClr val="tx1"/>
                </a:solidFill>
              </a:rPr>
              <a:t>해외발신번호를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010</a:t>
            </a:r>
            <a:r>
              <a:rPr lang="ko-KR" altLang="en-US" dirty="0">
                <a:solidFill>
                  <a:schemeClr val="tx1"/>
                </a:solidFill>
              </a:rPr>
              <a:t>으로 </a:t>
            </a:r>
            <a:r>
              <a:rPr lang="ko-KR" altLang="en-US" dirty="0" err="1">
                <a:solidFill>
                  <a:schemeClr val="tx1"/>
                </a:solidFill>
              </a:rPr>
              <a:t>변작해주는</a:t>
            </a:r>
            <a:r>
              <a:rPr lang="ko-KR" altLang="en-US" dirty="0">
                <a:solidFill>
                  <a:schemeClr val="tx1"/>
                </a:solidFill>
              </a:rPr>
              <a:t> 불법 중계기 활용으로 </a:t>
            </a:r>
            <a:r>
              <a:rPr lang="ko-KR" altLang="en-US" dirty="0" err="1">
                <a:solidFill>
                  <a:schemeClr val="tx1"/>
                </a:solidFill>
              </a:rPr>
              <a:t>투자리딩사기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노쇼사기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물품사기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보이스피싱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스캠</a:t>
            </a:r>
            <a:r>
              <a:rPr lang="ko-KR" altLang="en-US" dirty="0">
                <a:solidFill>
                  <a:schemeClr val="tx1"/>
                </a:solidFill>
              </a:rPr>
              <a:t> 등 피해 사례</a:t>
            </a:r>
          </a:p>
        </p:txBody>
      </p:sp>
      <p:pic>
        <p:nvPicPr>
          <p:cNvPr id="25" name="그림 2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163137-0371-675F-A8BF-6ADCD9DDEA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8244" y="3327351"/>
            <a:ext cx="3228521" cy="225436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EB5B2AC-6A6C-3D1D-C382-7EA53D4D686B}"/>
              </a:ext>
            </a:extLst>
          </p:cNvPr>
          <p:cNvSpPr txBox="1"/>
          <p:nvPr/>
        </p:nvSpPr>
        <p:spPr>
          <a:xfrm>
            <a:off x="4346110" y="5581712"/>
            <a:ext cx="3400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5738" indent="-185738" algn="ctr"/>
            <a:r>
              <a:rPr lang="en-US" altLang="ko-KR" dirty="0">
                <a:solidFill>
                  <a:schemeClr val="tx1"/>
                </a:solidFill>
              </a:rPr>
              <a:t>&lt;</a:t>
            </a:r>
            <a:r>
              <a:rPr lang="ko-KR" altLang="en-US" dirty="0">
                <a:solidFill>
                  <a:schemeClr val="tx1"/>
                </a:solidFill>
              </a:rPr>
              <a:t>연합뉴스</a:t>
            </a:r>
            <a:r>
              <a:rPr lang="en-US" altLang="ko-KR" dirty="0">
                <a:solidFill>
                  <a:schemeClr val="tx1"/>
                </a:solidFill>
              </a:rPr>
              <a:t>, ‘25.11.27.&gt;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8" name="그림 2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E4DB93-3E33-FF55-4208-59E2F98324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1988" y="3429000"/>
            <a:ext cx="2883687" cy="215926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82F5026-40AB-EAB0-1BE2-2AD1B7BC6790}"/>
              </a:ext>
            </a:extLst>
          </p:cNvPr>
          <p:cNvSpPr txBox="1"/>
          <p:nvPr/>
        </p:nvSpPr>
        <p:spPr>
          <a:xfrm>
            <a:off x="7805643" y="5662961"/>
            <a:ext cx="3400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5738" indent="-185738" algn="ctr"/>
            <a:r>
              <a:rPr lang="en-US" altLang="ko-KR" dirty="0">
                <a:solidFill>
                  <a:schemeClr val="tx1"/>
                </a:solidFill>
              </a:rPr>
              <a:t>&lt;</a:t>
            </a:r>
            <a:r>
              <a:rPr lang="ko-KR" altLang="en-US" dirty="0">
                <a:solidFill>
                  <a:schemeClr val="tx1"/>
                </a:solidFill>
              </a:rPr>
              <a:t>연합뉴스</a:t>
            </a:r>
            <a:r>
              <a:rPr lang="en-US" altLang="ko-KR" dirty="0">
                <a:solidFill>
                  <a:schemeClr val="tx1"/>
                </a:solidFill>
              </a:rPr>
              <a:t>, ‘25.10.27.&gt;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08AA61-A3CE-2404-CC3A-385887C064A7}"/>
              </a:ext>
            </a:extLst>
          </p:cNvPr>
          <p:cNvSpPr txBox="1"/>
          <p:nvPr/>
        </p:nvSpPr>
        <p:spPr>
          <a:xfrm>
            <a:off x="7922202" y="1808382"/>
            <a:ext cx="34006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○</a:t>
            </a:r>
            <a:r>
              <a:rPr lang="ko-KR" altLang="en-US" b="1" dirty="0">
                <a:solidFill>
                  <a:schemeClr val="tx1"/>
                </a:solidFill>
              </a:rPr>
              <a:t>  단발성 </a:t>
            </a:r>
            <a:r>
              <a:rPr lang="ko-KR" altLang="en-US" b="1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→ </a:t>
            </a:r>
            <a:r>
              <a:rPr lang="ko-KR" altLang="en-US" b="1" dirty="0">
                <a:solidFill>
                  <a:schemeClr val="tx1"/>
                </a:solidFill>
              </a:rPr>
              <a:t>장기화</a:t>
            </a:r>
            <a:r>
              <a:rPr lang="en-US" altLang="ko-KR" b="1" dirty="0">
                <a:solidFill>
                  <a:schemeClr val="tx1"/>
                </a:solidFill>
              </a:rPr>
              <a:t>(</a:t>
            </a:r>
            <a:r>
              <a:rPr lang="ko-KR" altLang="en-US" b="1" dirty="0">
                <a:solidFill>
                  <a:schemeClr val="tx1"/>
                </a:solidFill>
              </a:rPr>
              <a:t>심리지배</a:t>
            </a:r>
            <a:r>
              <a:rPr lang="en-US" altLang="ko-KR" b="1" dirty="0">
                <a:solidFill>
                  <a:schemeClr val="tx1"/>
                </a:solidFill>
              </a:rPr>
              <a:t>)</a:t>
            </a: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pPr marL="185738" indent="-185738"/>
            <a:r>
              <a:rPr lang="en-US" altLang="ko-KR" b="1" dirty="0">
                <a:solidFill>
                  <a:schemeClr val="tx1"/>
                </a:solidFill>
              </a:rPr>
              <a:t> - </a:t>
            </a:r>
            <a:r>
              <a:rPr lang="ko-KR" altLang="en-US" dirty="0">
                <a:solidFill>
                  <a:schemeClr val="tx1"/>
                </a:solidFill>
              </a:rPr>
              <a:t>외국인 행세에서 코인 투자 등으로 수법이 진화하며 범죄가 장기화되며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조직적 범죄로 진화</a:t>
            </a:r>
          </a:p>
        </p:txBody>
      </p:sp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1803-0BCB-CDD6-42D3-235F3A36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6A8299-6D51-DAF9-3F23-456F5D4538B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6659272E-CF83-E6EF-8181-1624E8B25D3C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5C76D45-1367-695A-8B79-BFC4D4D7BA5B}"/>
              </a:ext>
            </a:extLst>
          </p:cNvPr>
          <p:cNvSpPr txBox="1"/>
          <p:nvPr/>
        </p:nvSpPr>
        <p:spPr>
          <a:xfrm>
            <a:off x="939332" y="1189703"/>
            <a:ext cx="3386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1D14950D-817F-F6EB-EF9A-D1112359DB8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oogle Shape;92;p1">
            <a:extLst>
              <a:ext uri="{FF2B5EF4-FFF2-40B4-BE49-F238E27FC236}">
                <a16:creationId xmlns:a16="http://schemas.microsoft.com/office/drawing/2014/main" id="{B1DAC926-5769-341D-31A4-BFA94B28C16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84371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2" descr="주)데이터유니버스 2025년 기업정보 | 직원수, 근무환경, 복리후생 등 - 사람인">
            <a:extLst>
              <a:ext uri="{FF2B5EF4-FFF2-40B4-BE49-F238E27FC236}">
                <a16:creationId xmlns:a16="http://schemas.microsoft.com/office/drawing/2014/main" id="{1B7CE6AE-5F1B-28C5-9B7B-2F4327F3C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817" y="6443474"/>
            <a:ext cx="1524000" cy="414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Google Shape;99;p2">
            <a:extLst>
              <a:ext uri="{FF2B5EF4-FFF2-40B4-BE49-F238E27FC236}">
                <a16:creationId xmlns:a16="http://schemas.microsoft.com/office/drawing/2014/main" id="{9599C2D1-B648-8ABC-C4ED-6240529319B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C1202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01;p2">
            <a:extLst>
              <a:ext uri="{FF2B5EF4-FFF2-40B4-BE49-F238E27FC236}">
                <a16:creationId xmlns:a16="http://schemas.microsoft.com/office/drawing/2014/main" id="{F72FB828-777B-32F9-EB3A-6795A1F518F1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8D5AACD-782A-F75A-7057-CC33540D6F74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D87C3D7C-90E5-FEA8-F846-3DD1885A8767}"/>
              </a:ext>
            </a:extLst>
          </p:cNvPr>
          <p:cNvSpPr txBox="1"/>
          <p:nvPr/>
        </p:nvSpPr>
        <p:spPr>
          <a:xfrm>
            <a:off x="8742667" y="229867"/>
            <a:ext cx="3532681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피싱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ko-KR" altLang="en-US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스캠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예방을 위한 서비스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경진대회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2D5F23B-B170-14FB-F814-9F536D117D2A}"/>
              </a:ext>
            </a:extLst>
          </p:cNvPr>
          <p:cNvSpPr/>
          <p:nvPr/>
        </p:nvSpPr>
        <p:spPr>
          <a:xfrm>
            <a:off x="802306" y="2761232"/>
            <a:ext cx="1927123" cy="91132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  <a:cs typeface="KoPubWorld돋움체 Medium" panose="00000600000000000000" pitchFamily="2" charset="-127"/>
              </a:rPr>
              <a:t>피싱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  <a:cs typeface="KoPubWorld돋움체 Medium" panose="00000600000000000000" pitchFamily="2" charset="-127"/>
              </a:rPr>
              <a:t>/</a:t>
            </a:r>
            <a:r>
              <a:rPr lang="ko-KR" altLang="en-US" sz="1100" b="1" dirty="0" err="1">
                <a:solidFill>
                  <a:schemeClr val="tx1"/>
                </a:solidFill>
                <a:latin typeface="+mn-ea"/>
                <a:cs typeface="KoPubWorld돋움체 Medium" panose="00000600000000000000" pitchFamily="2" charset="-127"/>
              </a:rPr>
              <a:t>스캠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  <a:cs typeface="KoPubWorld돋움체 Medium" panose="00000600000000000000" pitchFamily="2" charset="-127"/>
              </a:rPr>
              <a:t>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  <a:cs typeface="KoPubWorld돋움체 Medium" panose="00000600000000000000" pitchFamily="2" charset="-127"/>
              </a:rPr>
              <a:t>=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  <a:cs typeface="KoPubWorld돋움체 Medium" panose="00000600000000000000" pitchFamily="2" charset="-127"/>
              </a:rPr>
              <a:t>앵커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  <a:cs typeface="KoPubWorld돋움체 Medium" panose="00000600000000000000" pitchFamily="2" charset="-127"/>
              </a:rPr>
              <a:t>+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  <a:cs typeface="KoPubWorld돋움체 Medium" panose="00000600000000000000" pitchFamily="2" charset="-127"/>
              </a:rPr>
              <a:t>행동</a:t>
            </a:r>
            <a:endParaRPr lang="en-US" altLang="ko-KR" sz="1100" b="1" dirty="0">
              <a:solidFill>
                <a:schemeClr val="tx1"/>
              </a:solidFill>
              <a:latin typeface="+mn-ea"/>
              <a:cs typeface="KoPubWorld돋움체 Medium" panose="00000600000000000000" pitchFamily="2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  <a:cs typeface="KoPubWorld돋움체 Medium" panose="00000600000000000000" pitchFamily="2" charset="-127"/>
              </a:rPr>
              <a:t>추가 단서 ⇒ 강한 의심</a:t>
            </a:r>
            <a:endParaRPr lang="ko-KR" altLang="en-US" b="1" dirty="0">
              <a:latin typeface="+mn-ea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40D310C-1C84-612A-8FB2-8F846D3B609E}"/>
              </a:ext>
            </a:extLst>
          </p:cNvPr>
          <p:cNvSpPr/>
          <p:nvPr/>
        </p:nvSpPr>
        <p:spPr>
          <a:xfrm>
            <a:off x="2920183" y="2761232"/>
            <a:ext cx="1927123" cy="91132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타이밍은 심리 지배 전</a:t>
            </a:r>
            <a:r>
              <a:rPr lang="en-US" altLang="ko-KR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!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실시간 탐지</a:t>
            </a:r>
            <a:r>
              <a:rPr lang="en-US" altLang="ko-KR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/</a:t>
            </a:r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분석</a:t>
            </a:r>
            <a:r>
              <a:rPr lang="en-US" altLang="ko-KR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/</a:t>
            </a:r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경보</a:t>
            </a:r>
            <a:r>
              <a:rPr lang="en-US" altLang="ko-KR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)</a:t>
            </a:r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85D573E-5C44-D6A1-E888-869EDE29F89E}"/>
              </a:ext>
            </a:extLst>
          </p:cNvPr>
          <p:cNvSpPr/>
          <p:nvPr/>
        </p:nvSpPr>
        <p:spPr>
          <a:xfrm>
            <a:off x="802307" y="3820445"/>
            <a:ext cx="1927123" cy="91132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실용성 있는 시나리오</a:t>
            </a:r>
            <a:endParaRPr lang="en-US" altLang="ko-KR" sz="1100" b="1" dirty="0">
              <a:solidFill>
                <a:schemeClr val="tx1"/>
              </a:solidFill>
              <a:latin typeface="+mj-ea"/>
              <a:cs typeface="KoPubWorld돋움체 Medium" panose="00000600000000000000" pitchFamily="2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강건한 </a:t>
            </a:r>
            <a:r>
              <a:rPr lang="ko-KR" altLang="en-US" sz="1100" b="1" dirty="0" err="1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대응메뉴얼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509ECCA-3793-1060-B788-C1C2CE97D433}"/>
              </a:ext>
            </a:extLst>
          </p:cNvPr>
          <p:cNvSpPr/>
          <p:nvPr/>
        </p:nvSpPr>
        <p:spPr>
          <a:xfrm>
            <a:off x="2920183" y="3820444"/>
            <a:ext cx="1927123" cy="91132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  <a:cs typeface="KoPubWorld돋움체 Medium" panose="00000600000000000000" pitchFamily="2" charset="-127"/>
              </a:rPr>
              <a:t>지속가능한 시나리오 확장 구조</a:t>
            </a:r>
            <a:endParaRPr lang="ko-KR" altLang="en-US" b="1" dirty="0"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E88D863-52A4-6271-9CFD-7ED7F11F77DA}"/>
              </a:ext>
            </a:extLst>
          </p:cNvPr>
          <p:cNvSpPr/>
          <p:nvPr/>
        </p:nvSpPr>
        <p:spPr>
          <a:xfrm>
            <a:off x="5306228" y="1817411"/>
            <a:ext cx="1927123" cy="4129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메시지 알림</a:t>
            </a:r>
            <a:r>
              <a:rPr lang="en-US" altLang="ko-KR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/</a:t>
            </a:r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스레드 기반 감시</a:t>
            </a:r>
            <a:r>
              <a:rPr lang="en-US" altLang="ko-KR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평상시 </a:t>
            </a:r>
            <a:r>
              <a:rPr lang="ko-KR" altLang="en-US" sz="1100" b="1" dirty="0" err="1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미동작</a:t>
            </a:r>
            <a:r>
              <a:rPr lang="en-US" altLang="ko-KR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)</a:t>
            </a:r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60B3DE4-B953-C201-4060-5C92D7CB1286}"/>
              </a:ext>
            </a:extLst>
          </p:cNvPr>
          <p:cNvSpPr/>
          <p:nvPr/>
        </p:nvSpPr>
        <p:spPr>
          <a:xfrm>
            <a:off x="7344693" y="1817411"/>
            <a:ext cx="1927123" cy="4129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메시지 알림</a:t>
            </a:r>
            <a:r>
              <a:rPr lang="en-US" altLang="ko-KR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/</a:t>
            </a:r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스레드 기반 </a:t>
            </a:r>
            <a:r>
              <a:rPr lang="ko-KR" altLang="en-US" sz="1100" b="1" dirty="0" err="1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프리필터</a:t>
            </a:r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 트리거</a:t>
            </a:r>
            <a:r>
              <a:rPr lang="en-US" altLang="ko-KR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동작</a:t>
            </a:r>
            <a:endParaRPr lang="ko-KR" altLang="en-US" sz="1100" dirty="0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5AFE571-601F-A348-C356-84D4357EBB9B}"/>
              </a:ext>
            </a:extLst>
          </p:cNvPr>
          <p:cNvSpPr/>
          <p:nvPr/>
        </p:nvSpPr>
        <p:spPr>
          <a:xfrm>
            <a:off x="9383158" y="1817411"/>
            <a:ext cx="1927123" cy="4129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chemeClr val="tx1"/>
                </a:solidFill>
              </a:rPr>
              <a:t>풀필터</a:t>
            </a:r>
            <a:r>
              <a:rPr lang="ko-KR" altLang="en-US" sz="1100" b="1" dirty="0">
                <a:solidFill>
                  <a:schemeClr val="tx1"/>
                </a:solidFill>
              </a:rPr>
              <a:t> 분석</a:t>
            </a:r>
            <a:r>
              <a:rPr lang="en-US" altLang="ko-KR" sz="1100" b="1" dirty="0">
                <a:solidFill>
                  <a:schemeClr val="tx1"/>
                </a:solidFill>
              </a:rPr>
              <a:t>/</a:t>
            </a:r>
            <a:r>
              <a:rPr lang="ko-KR" altLang="en-US" sz="1100" b="1" dirty="0">
                <a:solidFill>
                  <a:schemeClr val="tx1"/>
                </a:solidFill>
              </a:rPr>
              <a:t>탐지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  <a:cs typeface="KoPubWorld돋움체 Medium" panose="00000600000000000000" pitchFamily="2" charset="-127"/>
              </a:rPr>
              <a:t>⇒ 경보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pic>
        <p:nvPicPr>
          <p:cNvPr id="42" name="그림 41" descr="텍스트, 스크린샷, 통신 장치, 모바일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628D6B-9D8E-4D44-999A-D4EAC8A27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829" y="2422970"/>
            <a:ext cx="1830838" cy="3422304"/>
          </a:xfrm>
          <a:prstGeom prst="rect">
            <a:avLst/>
          </a:prstGeom>
        </p:spPr>
      </p:pic>
      <p:pic>
        <p:nvPicPr>
          <p:cNvPr id="44" name="그림 43" descr="스크린샷, 텍스트, 멀티미디어, 정보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5387F2-688D-5EED-8284-90698EB20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6953" y="2422971"/>
            <a:ext cx="1927123" cy="3413548"/>
          </a:xfrm>
          <a:prstGeom prst="rect">
            <a:avLst/>
          </a:prstGeom>
        </p:spPr>
      </p:pic>
      <p:pic>
        <p:nvPicPr>
          <p:cNvPr id="46" name="그림 45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BB8869-CD9A-D2CC-1D3F-4E2F231DE5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4379" y="2374800"/>
            <a:ext cx="1830839" cy="351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8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6C246-B742-4CC5-4DE1-3D3A5498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7D249F0-0136-43E2-7E93-8F61EA5FFA04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E0D81DA6-B3FE-77E6-29EB-80E6F59DAD5B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A9B714-0CA5-94B7-0D36-144E9F422B5C}"/>
              </a:ext>
            </a:extLst>
          </p:cNvPr>
          <p:cNvSpPr txBox="1"/>
          <p:nvPr/>
        </p:nvSpPr>
        <p:spPr>
          <a:xfrm>
            <a:off x="939332" y="1189703"/>
            <a:ext cx="2796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주요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21EE5127-5102-7956-BFA7-7895865F1915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oogle Shape;92;p1">
            <a:extLst>
              <a:ext uri="{FF2B5EF4-FFF2-40B4-BE49-F238E27FC236}">
                <a16:creationId xmlns:a16="http://schemas.microsoft.com/office/drawing/2014/main" id="{37658808-B502-08D5-3154-E72D25662B7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84371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2" descr="주)데이터유니버스 2025년 기업정보 | 직원수, 근무환경, 복리후생 등 - 사람인">
            <a:extLst>
              <a:ext uri="{FF2B5EF4-FFF2-40B4-BE49-F238E27FC236}">
                <a16:creationId xmlns:a16="http://schemas.microsoft.com/office/drawing/2014/main" id="{EEB51D76-937E-7AAD-06CC-0526DD37C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817" y="6443474"/>
            <a:ext cx="1524000" cy="414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Google Shape;99;p2">
            <a:extLst>
              <a:ext uri="{FF2B5EF4-FFF2-40B4-BE49-F238E27FC236}">
                <a16:creationId xmlns:a16="http://schemas.microsoft.com/office/drawing/2014/main" id="{5856755B-FCB0-B2DB-4896-882858116C4F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C1202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01;p2">
            <a:extLst>
              <a:ext uri="{FF2B5EF4-FFF2-40B4-BE49-F238E27FC236}">
                <a16:creationId xmlns:a16="http://schemas.microsoft.com/office/drawing/2014/main" id="{63BB1C3F-06AA-4634-175B-09F959C4469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7A9B20E-0365-DB76-C6A1-A82BF7552CE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BBE4CA4A-9C1E-57E3-F069-6BB7E91540E5}"/>
              </a:ext>
            </a:extLst>
          </p:cNvPr>
          <p:cNvSpPr txBox="1"/>
          <p:nvPr/>
        </p:nvSpPr>
        <p:spPr>
          <a:xfrm>
            <a:off x="8742667" y="229867"/>
            <a:ext cx="3532681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피싱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ko-KR" altLang="en-US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스캠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예방을 위한 서비스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경진대회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C44EF1-4D6B-04D6-C23B-075D391999B9}"/>
              </a:ext>
            </a:extLst>
          </p:cNvPr>
          <p:cNvSpPr txBox="1"/>
          <p:nvPr/>
        </p:nvSpPr>
        <p:spPr>
          <a:xfrm>
            <a:off x="939331" y="1808384"/>
            <a:ext cx="1051243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○</a:t>
            </a:r>
            <a:r>
              <a:rPr lang="ko-KR" altLang="en-US" b="1" dirty="0">
                <a:solidFill>
                  <a:schemeClr val="tx1"/>
                </a:solidFill>
              </a:rPr>
              <a:t>  스레드 기반 적기 분석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실시간 모니터링</a:t>
            </a:r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pPr marL="185738" indent="-185738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dirty="0">
                <a:solidFill>
                  <a:schemeClr val="tx1"/>
                </a:solidFill>
              </a:rPr>
              <a:t>장기화 되는 범죄를 예방하고 정밀하게 분석하기 위해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위험 신호가 쌓이는 대화 흐름을 대화단위 분석 누적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맥락 분석</a:t>
            </a:r>
            <a:endParaRPr lang="en-US" altLang="ko-KR" dirty="0">
              <a:solidFill>
                <a:schemeClr val="tx1"/>
              </a:solidFill>
            </a:endParaRPr>
          </a:p>
          <a:p>
            <a:pPr marL="185738" indent="-185738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dirty="0">
                <a:solidFill>
                  <a:schemeClr val="tx1"/>
                </a:solidFill>
              </a:rPr>
              <a:t>실시간 입력에 따른 신호 탐지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범죄 위험 단계를 갱신해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적기 빠른 개입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</a:p>
          <a:p>
            <a:pPr marL="185738" indent="-185738"/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○</a:t>
            </a:r>
            <a:r>
              <a:rPr lang="ko-KR" altLang="en-US" b="1" dirty="0">
                <a:solidFill>
                  <a:schemeClr val="tx1"/>
                </a:solidFill>
              </a:rPr>
              <a:t>  실시간 정밀분석으로 적기 경보 및 대응 지원</a:t>
            </a:r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pPr marL="271463" indent="-271463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dirty="0">
                <a:solidFill>
                  <a:schemeClr val="tx1"/>
                </a:solidFill>
              </a:rPr>
              <a:t>사용자의 범죄 인식 지연과 심리지배를 예방하기 위해 단순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개 메시지 또는 특정시점 분석을 벗어나 단계별 분석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개입 및 위험 </a:t>
            </a:r>
            <a:r>
              <a:rPr lang="ko-KR" altLang="en-US" b="1" dirty="0">
                <a:solidFill>
                  <a:schemeClr val="tx1"/>
                </a:solidFill>
              </a:rPr>
              <a:t>확정단서</a:t>
            </a:r>
            <a:r>
              <a:rPr lang="en-US" altLang="ko-KR" b="1" dirty="0">
                <a:solidFill>
                  <a:schemeClr val="tx1"/>
                </a:solidFill>
              </a:rPr>
              <a:t>/</a:t>
            </a:r>
            <a:r>
              <a:rPr lang="ko-KR" altLang="en-US" b="1" dirty="0">
                <a:solidFill>
                  <a:schemeClr val="tx1"/>
                </a:solidFill>
              </a:rPr>
              <a:t>근거 제시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185738" indent="-185738"/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○</a:t>
            </a:r>
            <a:r>
              <a:rPr lang="ko-KR" altLang="en-US" b="1" dirty="0">
                <a:solidFill>
                  <a:schemeClr val="tx1"/>
                </a:solidFill>
              </a:rPr>
              <a:t>  악성 </a:t>
            </a:r>
            <a:r>
              <a:rPr lang="en-US" altLang="ko-KR" b="1" dirty="0" err="1">
                <a:solidFill>
                  <a:schemeClr val="tx1"/>
                </a:solidFill>
              </a:rPr>
              <a:t>url</a:t>
            </a:r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ko-KR" altLang="en-US" b="1" dirty="0">
                <a:solidFill>
                  <a:schemeClr val="tx1"/>
                </a:solidFill>
              </a:rPr>
              <a:t>탐지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분석으로 피해 예방</a:t>
            </a:r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pPr marL="271463" indent="-271463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dirty="0">
                <a:solidFill>
                  <a:schemeClr val="tx1"/>
                </a:solidFill>
              </a:rPr>
              <a:t>사칭 유형별 </a:t>
            </a:r>
            <a:r>
              <a:rPr lang="en-US" altLang="ko-KR" dirty="0">
                <a:solidFill>
                  <a:schemeClr val="tx1"/>
                </a:solidFill>
              </a:rPr>
              <a:t>URL </a:t>
            </a:r>
            <a:r>
              <a:rPr lang="ko-KR" altLang="en-US" dirty="0">
                <a:solidFill>
                  <a:schemeClr val="tx1"/>
                </a:solidFill>
              </a:rPr>
              <a:t>화이트리스트를 구축하고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사람이 인식하기 힘든 </a:t>
            </a:r>
            <a:r>
              <a:rPr lang="en-US" altLang="ko-KR" dirty="0">
                <a:solidFill>
                  <a:schemeClr val="tx1"/>
                </a:solidFill>
              </a:rPr>
              <a:t>URL </a:t>
            </a:r>
            <a:r>
              <a:rPr lang="ko-KR" altLang="en-US" dirty="0">
                <a:solidFill>
                  <a:schemeClr val="tx1"/>
                </a:solidFill>
              </a:rPr>
              <a:t>변형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 err="1">
                <a:solidFill>
                  <a:schemeClr val="tx1"/>
                </a:solidFill>
              </a:rPr>
              <a:t>타이포스쿼트</a:t>
            </a:r>
            <a:r>
              <a:rPr lang="en-US" altLang="ko-KR" dirty="0">
                <a:solidFill>
                  <a:schemeClr val="tx1"/>
                </a:solidFill>
              </a:rPr>
              <a:t>),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리다이렉트</a:t>
            </a:r>
            <a:r>
              <a:rPr lang="ko-KR" altLang="en-US" dirty="0">
                <a:solidFill>
                  <a:schemeClr val="tx1"/>
                </a:solidFill>
              </a:rPr>
              <a:t> 추적 등 </a:t>
            </a:r>
            <a:r>
              <a:rPr lang="ko-KR" altLang="en-US" b="1" dirty="0">
                <a:solidFill>
                  <a:schemeClr val="tx1"/>
                </a:solidFill>
              </a:rPr>
              <a:t>악성 </a:t>
            </a:r>
            <a:r>
              <a:rPr lang="en-US" altLang="ko-KR" b="1" dirty="0">
                <a:solidFill>
                  <a:schemeClr val="tx1"/>
                </a:solidFill>
              </a:rPr>
              <a:t>URL </a:t>
            </a:r>
            <a:r>
              <a:rPr lang="ko-KR" altLang="en-US" b="1" dirty="0">
                <a:solidFill>
                  <a:schemeClr val="tx1"/>
                </a:solidFill>
              </a:rPr>
              <a:t>탐지 및 경보</a:t>
            </a:r>
            <a:r>
              <a:rPr lang="ko-KR" altLang="en-US" dirty="0">
                <a:solidFill>
                  <a:schemeClr val="tx1"/>
                </a:solidFill>
              </a:rPr>
              <a:t> 제공</a:t>
            </a:r>
            <a:endParaRPr lang="en-US" altLang="ko-KR" dirty="0">
              <a:solidFill>
                <a:schemeClr val="tx1"/>
              </a:solidFill>
            </a:endParaRPr>
          </a:p>
          <a:p>
            <a:pPr marL="185738" indent="-185738"/>
            <a:r>
              <a:rPr lang="en-US" altLang="ko-KR" dirty="0">
                <a:solidFill>
                  <a:schemeClr val="tx1"/>
                </a:solidFill>
              </a:rPr>
              <a:t> </a:t>
            </a:r>
          </a:p>
          <a:p>
            <a:r>
              <a:rPr lang="ko-KR" altLang="en-US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○</a:t>
            </a:r>
            <a:r>
              <a:rPr lang="ko-KR" altLang="en-US" b="1" dirty="0">
                <a:solidFill>
                  <a:schemeClr val="tx1"/>
                </a:solidFill>
              </a:rPr>
              <a:t>  대화</a:t>
            </a:r>
            <a:r>
              <a:rPr lang="en-US" altLang="ko-KR" b="1" dirty="0">
                <a:solidFill>
                  <a:schemeClr val="tx1"/>
                </a:solidFill>
              </a:rPr>
              <a:t>/</a:t>
            </a:r>
            <a:r>
              <a:rPr lang="ko-KR" altLang="en-US" b="1" dirty="0">
                <a:solidFill>
                  <a:schemeClr val="tx1"/>
                </a:solidFill>
              </a:rPr>
              <a:t>개인정보 미수집으로 사용자 접근성 강화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필요시점에 필요한만큼만 동작하는 구조로 로컬 부담 완화</a:t>
            </a:r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pPr marL="271463" indent="-271463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dirty="0">
                <a:solidFill>
                  <a:schemeClr val="tx1"/>
                </a:solidFill>
              </a:rPr>
              <a:t>대화정보를 서버에서 </a:t>
            </a:r>
            <a:r>
              <a:rPr lang="ko-KR" altLang="en-US" dirty="0" err="1">
                <a:solidFill>
                  <a:schemeClr val="tx1"/>
                </a:solidFill>
              </a:rPr>
              <a:t>수집하지않고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의심상황에만 분석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탐지 시행으로 </a:t>
            </a:r>
            <a:r>
              <a:rPr lang="ko-KR" altLang="en-US" b="1" dirty="0">
                <a:solidFill>
                  <a:schemeClr val="tx1"/>
                </a:solidFill>
              </a:rPr>
              <a:t>개인정보 유출</a:t>
            </a:r>
            <a:r>
              <a:rPr lang="en-US" altLang="ko-KR" b="1" dirty="0">
                <a:solidFill>
                  <a:schemeClr val="tx1"/>
                </a:solidFill>
              </a:rPr>
              <a:t>/</a:t>
            </a:r>
            <a:r>
              <a:rPr lang="ko-KR" altLang="en-US" b="1" dirty="0">
                <a:solidFill>
                  <a:schemeClr val="tx1"/>
                </a:solidFill>
              </a:rPr>
              <a:t>제공 우려 감소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271463" indent="-271463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dirty="0">
                <a:solidFill>
                  <a:schemeClr val="tx1"/>
                </a:solidFill>
              </a:rPr>
              <a:t>평상시 </a:t>
            </a:r>
            <a:r>
              <a:rPr lang="ko-KR" altLang="en-US" dirty="0" err="1">
                <a:solidFill>
                  <a:schemeClr val="tx1"/>
                </a:solidFill>
              </a:rPr>
              <a:t>미동작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휴대폰 알림 또는 메시지 스레드 기반 메시지 </a:t>
            </a:r>
            <a:r>
              <a:rPr lang="ko-KR" altLang="en-US" dirty="0" err="1">
                <a:solidFill>
                  <a:schemeClr val="tx1"/>
                </a:solidFill>
              </a:rPr>
              <a:t>수신시</a:t>
            </a:r>
            <a:r>
              <a:rPr lang="ko-KR" altLang="en-US" dirty="0">
                <a:solidFill>
                  <a:schemeClr val="tx1"/>
                </a:solidFill>
              </a:rPr>
              <a:t> 가벼운 사전필터가 동작</a:t>
            </a:r>
            <a:endParaRPr lang="en-US" altLang="ko-KR" dirty="0">
              <a:solidFill>
                <a:schemeClr val="tx1"/>
              </a:solidFill>
            </a:endParaRPr>
          </a:p>
          <a:p>
            <a:pPr marL="271463" indent="-271463"/>
            <a:r>
              <a:rPr lang="en-US" altLang="ko-KR" dirty="0">
                <a:solidFill>
                  <a:schemeClr val="tx1"/>
                </a:solidFill>
              </a:rPr>
              <a:t>   - </a:t>
            </a:r>
            <a:r>
              <a:rPr lang="ko-KR" altLang="en-US" dirty="0">
                <a:solidFill>
                  <a:schemeClr val="tx1"/>
                </a:solidFill>
              </a:rPr>
              <a:t>주요 앵커나 </a:t>
            </a:r>
            <a:r>
              <a:rPr lang="en-US" altLang="ko-KR" dirty="0">
                <a:solidFill>
                  <a:schemeClr val="tx1"/>
                </a:solidFill>
              </a:rPr>
              <a:t>URL </a:t>
            </a:r>
            <a:r>
              <a:rPr lang="ko-KR" altLang="en-US" dirty="0">
                <a:solidFill>
                  <a:schemeClr val="tx1"/>
                </a:solidFill>
              </a:rPr>
              <a:t>탐지시에만 정밀필터 동작으로 휴대폰 </a:t>
            </a:r>
            <a:r>
              <a:rPr lang="en-US" altLang="ko-KR" dirty="0">
                <a:solidFill>
                  <a:schemeClr val="tx1"/>
                </a:solidFill>
              </a:rPr>
              <a:t>CPU/</a:t>
            </a:r>
            <a:r>
              <a:rPr lang="ko-KR" altLang="en-US" dirty="0">
                <a:solidFill>
                  <a:schemeClr val="tx1"/>
                </a:solidFill>
              </a:rPr>
              <a:t>배터리 </a:t>
            </a:r>
            <a:r>
              <a:rPr lang="ko-KR" altLang="en-US" b="1" dirty="0">
                <a:solidFill>
                  <a:schemeClr val="tx1"/>
                </a:solidFill>
              </a:rPr>
              <a:t>사용 제약 부담 완화</a:t>
            </a:r>
          </a:p>
        </p:txBody>
      </p:sp>
    </p:spTree>
    <p:extLst>
      <p:ext uri="{BB962C8B-B14F-4D97-AF65-F5344CB8AC3E}">
        <p14:creationId xmlns:p14="http://schemas.microsoft.com/office/powerpoint/2010/main" val="160441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D8DB-3443-A102-9C42-2C56691F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743A085-6411-0EFC-A699-01660D683A67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EC1F5329-9D30-13B3-C443-E9985DBB5313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AF6FF1F-0E89-66A7-7227-BC7AA6E81C3C}"/>
              </a:ext>
            </a:extLst>
          </p:cNvPr>
          <p:cNvSpPr txBox="1"/>
          <p:nvPr/>
        </p:nvSpPr>
        <p:spPr>
          <a:xfrm>
            <a:off x="939332" y="1189703"/>
            <a:ext cx="3966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데이터 및 기술 활용 </a:t>
            </a:r>
            <a:r>
              <a:rPr lang="en-US" altLang="ko-KR" dirty="0">
                <a:latin typeface="+mj-ea"/>
                <a:ea typeface="+mj-ea"/>
              </a:rPr>
              <a:t>(Data &amp; Tech)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6E9B4B97-E58C-7529-3DC0-F31DEFF65D1B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oogle Shape;92;p1">
            <a:extLst>
              <a:ext uri="{FF2B5EF4-FFF2-40B4-BE49-F238E27FC236}">
                <a16:creationId xmlns:a16="http://schemas.microsoft.com/office/drawing/2014/main" id="{D2A1BBB7-3C5B-8468-FC00-465E80B6F41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84371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2" descr="주)데이터유니버스 2025년 기업정보 | 직원수, 근무환경, 복리후생 등 - 사람인">
            <a:extLst>
              <a:ext uri="{FF2B5EF4-FFF2-40B4-BE49-F238E27FC236}">
                <a16:creationId xmlns:a16="http://schemas.microsoft.com/office/drawing/2014/main" id="{D7D9DD31-4155-3C2C-2B6A-880C6C394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817" y="6443474"/>
            <a:ext cx="1524000" cy="414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Google Shape;99;p2">
            <a:extLst>
              <a:ext uri="{FF2B5EF4-FFF2-40B4-BE49-F238E27FC236}">
                <a16:creationId xmlns:a16="http://schemas.microsoft.com/office/drawing/2014/main" id="{0EE0F225-0CB8-CF17-F634-E49B937040E6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C1202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01;p2">
            <a:extLst>
              <a:ext uri="{FF2B5EF4-FFF2-40B4-BE49-F238E27FC236}">
                <a16:creationId xmlns:a16="http://schemas.microsoft.com/office/drawing/2014/main" id="{AB5745BE-9BDD-3868-6E23-5B82701E5A7B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FA49E26B-9CE5-618A-B798-389BF794A1C3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C6285A05-4B56-14F1-3A52-6C0538A78123}"/>
              </a:ext>
            </a:extLst>
          </p:cNvPr>
          <p:cNvSpPr txBox="1"/>
          <p:nvPr/>
        </p:nvSpPr>
        <p:spPr>
          <a:xfrm>
            <a:off x="8742667" y="229867"/>
            <a:ext cx="3532681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피싱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ko-KR" altLang="en-US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스캠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예방을 위한 서비스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경진대회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9534D25-0905-A23E-2824-B6346DEA3DFD}"/>
              </a:ext>
            </a:extLst>
          </p:cNvPr>
          <p:cNvSpPr/>
          <p:nvPr/>
        </p:nvSpPr>
        <p:spPr>
          <a:xfrm>
            <a:off x="768261" y="1984762"/>
            <a:ext cx="1927123" cy="911321"/>
          </a:xfrm>
          <a:prstGeom prst="roundRect">
            <a:avLst/>
          </a:prstGeom>
          <a:solidFill>
            <a:srgbClr val="F1B3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실제 사례 </a:t>
            </a:r>
            <a:r>
              <a:rPr lang="ko-KR" altLang="en-US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기반</a:t>
            </a:r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 실용성 </a:t>
            </a:r>
            <a:r>
              <a:rPr lang="ko-KR" altLang="en-US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있는</a:t>
            </a:r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 데이터 확보</a:t>
            </a:r>
            <a:endParaRPr lang="en-US" altLang="ko-KR" sz="1100" b="1" dirty="0">
              <a:solidFill>
                <a:schemeClr val="tx1"/>
              </a:solidFill>
              <a:latin typeface="+mj-ea"/>
              <a:cs typeface="KoPubWorld돋움체 Medium" panose="00000600000000000000" pitchFamily="2" charset="-127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전기통신금융사기 통합대응단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경찰청 자료 주기수집 환경 구성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)</a:t>
            </a:r>
            <a:endParaRPr lang="ko-KR" altLang="en-US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FFEC7110-1DBD-EC13-775B-ADD912755209}"/>
              </a:ext>
            </a:extLst>
          </p:cNvPr>
          <p:cNvSpPr/>
          <p:nvPr/>
        </p:nvSpPr>
        <p:spPr>
          <a:xfrm>
            <a:off x="2748264" y="2309797"/>
            <a:ext cx="261257" cy="261250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8C2D65A-CA50-446D-8429-12340E8D7648}"/>
              </a:ext>
            </a:extLst>
          </p:cNvPr>
          <p:cNvSpPr/>
          <p:nvPr/>
        </p:nvSpPr>
        <p:spPr>
          <a:xfrm>
            <a:off x="3009521" y="1984762"/>
            <a:ext cx="1927123" cy="911321"/>
          </a:xfrm>
          <a:prstGeom prst="roundRect">
            <a:avLst/>
          </a:prstGeom>
          <a:solidFill>
            <a:srgbClr val="F1B3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범죄 구조 분석</a:t>
            </a:r>
            <a:endParaRPr lang="en-US" altLang="ko-KR" sz="1100" b="1" dirty="0">
              <a:solidFill>
                <a:schemeClr val="tx1"/>
              </a:solidFill>
              <a:latin typeface="+mj-ea"/>
              <a:cs typeface="KoPubWorld돋움체 Medium" panose="00000600000000000000" pitchFamily="2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주요 앵커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+</a:t>
            </a:r>
            <a:r>
              <a:rPr lang="ko-KR" altLang="en-US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귀결행동요구 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+</a:t>
            </a:r>
            <a:r>
              <a:rPr lang="ko-KR" altLang="en-US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추가단서</a:t>
            </a:r>
            <a:endParaRPr lang="ko-KR" altLang="en-US" dirty="0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EBD16E30-3A40-63C3-0604-B6678B0B7A5A}"/>
              </a:ext>
            </a:extLst>
          </p:cNvPr>
          <p:cNvSpPr/>
          <p:nvPr/>
        </p:nvSpPr>
        <p:spPr>
          <a:xfrm>
            <a:off x="4966064" y="2290010"/>
            <a:ext cx="261257" cy="261250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2EB9104-9EA5-EE8B-7AD4-04B1D523CDBE}"/>
              </a:ext>
            </a:extLst>
          </p:cNvPr>
          <p:cNvSpPr/>
          <p:nvPr/>
        </p:nvSpPr>
        <p:spPr>
          <a:xfrm>
            <a:off x="5227321" y="1964975"/>
            <a:ext cx="1927123" cy="911321"/>
          </a:xfrm>
          <a:prstGeom prst="roundRect">
            <a:avLst/>
          </a:prstGeom>
          <a:solidFill>
            <a:srgbClr val="F1B3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깊은 </a:t>
            </a:r>
            <a:r>
              <a:rPr lang="ko-KR" altLang="en-US" sz="1100" b="1" dirty="0" err="1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임베딩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⇒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단어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/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문장 변형 사전 확보</a:t>
            </a:r>
            <a:endParaRPr lang="en-US" altLang="ko-KR" sz="1000" b="1" dirty="0">
              <a:solidFill>
                <a:schemeClr val="tx1"/>
              </a:solidFill>
              <a:latin typeface="+mj-ea"/>
              <a:cs typeface="KoPubWorld돋움체 Medium" panose="00000600000000000000" pitchFamily="2" charset="-127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(</a:t>
            </a:r>
            <a:r>
              <a:rPr lang="en-US" altLang="ko-KR" sz="1100" dirty="0">
                <a:solidFill>
                  <a:schemeClr val="tx1"/>
                </a:solidFill>
              </a:rPr>
              <a:t>BAAI/bge-m3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)</a:t>
            </a:r>
            <a:endParaRPr lang="ko-KR" altLang="en-US" sz="1100" dirty="0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EFE9196A-01C2-684F-CBFD-A87B5018D46A}"/>
              </a:ext>
            </a:extLst>
          </p:cNvPr>
          <p:cNvSpPr/>
          <p:nvPr/>
        </p:nvSpPr>
        <p:spPr>
          <a:xfrm>
            <a:off x="7207324" y="2309797"/>
            <a:ext cx="261257" cy="261250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2DFF749-4954-1F16-708D-E89F01985829}"/>
              </a:ext>
            </a:extLst>
          </p:cNvPr>
          <p:cNvSpPr/>
          <p:nvPr/>
        </p:nvSpPr>
        <p:spPr>
          <a:xfrm>
            <a:off x="7482454" y="1984762"/>
            <a:ext cx="1927123" cy="911321"/>
          </a:xfrm>
          <a:prstGeom prst="roundRect">
            <a:avLst/>
          </a:prstGeom>
          <a:solidFill>
            <a:srgbClr val="F1B3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탐지 강건성 확보</a:t>
            </a:r>
            <a:endParaRPr lang="en-US" altLang="ko-KR" sz="1000" b="1" dirty="0">
              <a:solidFill>
                <a:schemeClr val="tx1"/>
              </a:solidFill>
              <a:latin typeface="+mj-ea"/>
              <a:cs typeface="KoPubWorld돋움체 Medium" panose="00000600000000000000" pitchFamily="2" charset="-127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(MLM(</a:t>
            </a:r>
            <a:r>
              <a:rPr lang="ko-KR" altLang="en-US" sz="1100" dirty="0" err="1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마스킹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)</a:t>
            </a:r>
            <a:endParaRPr lang="ko-KR" altLang="en-US" sz="1100" dirty="0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834D1603-219D-8BE3-5193-5F9C337E06AB}"/>
              </a:ext>
            </a:extLst>
          </p:cNvPr>
          <p:cNvSpPr/>
          <p:nvPr/>
        </p:nvSpPr>
        <p:spPr>
          <a:xfrm>
            <a:off x="9425124" y="2300894"/>
            <a:ext cx="261257" cy="261250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19F3F13-1C60-3FD9-C830-7115D3FDE880}"/>
              </a:ext>
            </a:extLst>
          </p:cNvPr>
          <p:cNvSpPr/>
          <p:nvPr/>
        </p:nvSpPr>
        <p:spPr>
          <a:xfrm>
            <a:off x="9700254" y="1975859"/>
            <a:ext cx="1927123" cy="911321"/>
          </a:xfrm>
          <a:prstGeom prst="roundRect">
            <a:avLst/>
          </a:prstGeom>
          <a:solidFill>
            <a:srgbClr val="F1B3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가벼운 </a:t>
            </a:r>
            <a:r>
              <a:rPr lang="ko-KR" altLang="en-US" sz="1100" b="1" dirty="0" err="1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임베딩</a:t>
            </a:r>
            <a:r>
              <a:rPr lang="en-US" altLang="ko-KR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범죄구조 기반 변종 수법 탐지</a:t>
            </a:r>
            <a:endParaRPr lang="en-US" altLang="ko-KR" sz="1000" b="1" dirty="0">
              <a:solidFill>
                <a:schemeClr val="tx1"/>
              </a:solidFill>
              <a:latin typeface="+mj-ea"/>
              <a:cs typeface="KoPubWorld돋움체 Medium" panose="00000600000000000000" pitchFamily="2" charset="-127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(hash64,</a:t>
            </a:r>
            <a:r>
              <a:rPr lang="ko-KR" altLang="en-US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 앵커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+</a:t>
            </a:r>
            <a:r>
              <a:rPr lang="ko-KR" altLang="en-US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귀결행동 중 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1</a:t>
            </a:r>
            <a:r>
              <a:rPr lang="ko-KR" altLang="en-US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개 단서 유지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cs typeface="KoPubWorld돋움체 Medium" panose="00000600000000000000" pitchFamily="2" charset="-127"/>
              </a:rPr>
              <a:t>)</a:t>
            </a:r>
            <a:endParaRPr lang="ko-KR" altLang="en-US" sz="11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916C5B-0618-76E7-EFB8-633BD885B1DC}"/>
              </a:ext>
            </a:extLst>
          </p:cNvPr>
          <p:cNvSpPr txBox="1"/>
          <p:nvPr/>
        </p:nvSpPr>
        <p:spPr>
          <a:xfrm>
            <a:off x="768261" y="1632752"/>
            <a:ext cx="7986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○</a:t>
            </a:r>
            <a:r>
              <a:rPr lang="ko-KR" altLang="en-US" b="1" dirty="0">
                <a:solidFill>
                  <a:schemeClr val="tx1"/>
                </a:solidFill>
              </a:rPr>
              <a:t>  정보 미수집</a:t>
            </a:r>
            <a:r>
              <a:rPr lang="ko-KR" altLang="en-US" dirty="0">
                <a:solidFill>
                  <a:schemeClr val="tx1"/>
                </a:solidFill>
              </a:rPr>
              <a:t>으로</a:t>
            </a:r>
            <a:r>
              <a:rPr lang="ko-KR" altLang="en-US" b="1" dirty="0">
                <a:solidFill>
                  <a:schemeClr val="tx1"/>
                </a:solidFill>
              </a:rPr>
              <a:t> 개인정보 유출 우려는 줄이고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탐지는 가볍고 정확하고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경보는 빠르게 </a:t>
            </a:r>
            <a:endParaRPr lang="en-US" altLang="ko-KR" sz="10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D302C6-D5B2-A75E-5CF2-6DAF0888941A}"/>
              </a:ext>
            </a:extLst>
          </p:cNvPr>
          <p:cNvSpPr txBox="1"/>
          <p:nvPr/>
        </p:nvSpPr>
        <p:spPr>
          <a:xfrm>
            <a:off x="755713" y="4221053"/>
            <a:ext cx="798695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○</a:t>
            </a:r>
            <a:r>
              <a:rPr lang="ko-KR" altLang="en-US" b="1" dirty="0">
                <a:solidFill>
                  <a:schemeClr val="tx1"/>
                </a:solidFill>
              </a:rPr>
              <a:t>  사용 모델</a:t>
            </a:r>
            <a:r>
              <a:rPr lang="en-US" altLang="ko-KR" b="1" dirty="0">
                <a:solidFill>
                  <a:schemeClr val="tx1"/>
                </a:solidFill>
              </a:rPr>
              <a:t>/</a:t>
            </a:r>
            <a:r>
              <a:rPr lang="ko-KR" altLang="en-US" b="1" dirty="0">
                <a:solidFill>
                  <a:schemeClr val="tx1"/>
                </a:solidFill>
              </a:rPr>
              <a:t>라이브러리</a:t>
            </a:r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sz="400" b="1" dirty="0">
              <a:solidFill>
                <a:schemeClr val="tx1"/>
              </a:solidFill>
            </a:endParaRPr>
          </a:p>
          <a:p>
            <a:pPr marL="185738" indent="-185738"/>
            <a:r>
              <a:rPr lang="en-US" altLang="ko-KR" b="1" dirty="0">
                <a:solidFill>
                  <a:schemeClr val="tx1"/>
                </a:solidFill>
              </a:rPr>
              <a:t>  - </a:t>
            </a:r>
            <a:r>
              <a:rPr lang="ko-KR" altLang="en-US" dirty="0" err="1">
                <a:solidFill>
                  <a:schemeClr val="tx1"/>
                </a:solidFill>
              </a:rPr>
              <a:t>프론트엔드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: React + Typescript</a:t>
            </a:r>
          </a:p>
          <a:p>
            <a:pPr marL="185738" indent="-185738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dirty="0" err="1">
                <a:solidFill>
                  <a:schemeClr val="tx1"/>
                </a:solidFill>
              </a:rPr>
              <a:t>온디바이스</a:t>
            </a:r>
            <a:r>
              <a:rPr lang="ko-KR" altLang="en-US" dirty="0">
                <a:solidFill>
                  <a:schemeClr val="tx1"/>
                </a:solidFill>
              </a:rPr>
              <a:t> 추론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en-US" altLang="ko-KR" dirty="0" err="1">
                <a:solidFill>
                  <a:schemeClr val="tx1"/>
                </a:solidFill>
              </a:rPr>
              <a:t>Xenova</a:t>
            </a:r>
            <a:r>
              <a:rPr lang="en-US" altLang="ko-KR" dirty="0">
                <a:solidFill>
                  <a:schemeClr val="tx1"/>
                </a:solidFill>
              </a:rPr>
              <a:t>/transformers (</a:t>
            </a:r>
            <a:r>
              <a:rPr lang="ko-KR" altLang="en-US" dirty="0">
                <a:solidFill>
                  <a:schemeClr val="tx1"/>
                </a:solidFill>
              </a:rPr>
              <a:t>사전 개발 환경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  <a:p>
            <a:pPr marL="185738" indent="-185738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dirty="0">
                <a:solidFill>
                  <a:schemeClr val="tx1"/>
                </a:solidFill>
              </a:rPr>
              <a:t> 코사인 유사도 기반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사전 인덱스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en-US" altLang="ko-KR" dirty="0" err="1">
                <a:solidFill>
                  <a:schemeClr val="tx1"/>
                </a:solidFill>
              </a:rPr>
              <a:t>simdex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온디바이스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: Hash64)</a:t>
            </a:r>
          </a:p>
          <a:p>
            <a:pPr marL="185738" indent="-185738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dirty="0">
                <a:solidFill>
                  <a:schemeClr val="tx1"/>
                </a:solidFill>
              </a:rPr>
              <a:t>데이터 파이프라인 </a:t>
            </a:r>
            <a:r>
              <a:rPr lang="en-US" altLang="ko-KR" dirty="0">
                <a:solidFill>
                  <a:schemeClr val="tx1"/>
                </a:solidFill>
              </a:rPr>
              <a:t>: JSONL </a:t>
            </a:r>
            <a:r>
              <a:rPr lang="ko-KR" altLang="en-US" dirty="0">
                <a:solidFill>
                  <a:schemeClr val="tx1"/>
                </a:solidFill>
              </a:rPr>
              <a:t>시나리오 데이터셋 </a:t>
            </a:r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ko-KR" altLang="en-US" dirty="0">
                <a:solidFill>
                  <a:schemeClr val="tx1"/>
                </a:solidFill>
              </a:rPr>
              <a:t>스크립트 기반 </a:t>
            </a:r>
            <a:r>
              <a:rPr lang="ko-KR" altLang="en-US" dirty="0" err="1">
                <a:solidFill>
                  <a:schemeClr val="tx1"/>
                </a:solidFill>
              </a:rPr>
              <a:t>재라벨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회귀 테스트 </a:t>
            </a:r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ko-KR" altLang="en-US" dirty="0">
                <a:solidFill>
                  <a:schemeClr val="tx1"/>
                </a:solidFill>
              </a:rPr>
              <a:t>분석활용</a:t>
            </a:r>
            <a:endParaRPr lang="en-US" altLang="ko-K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342D4C1-2267-79C5-08CC-49B49B37D3E9}"/>
                  </a:ext>
                </a:extLst>
              </p:cNvPr>
              <p:cNvSpPr txBox="1"/>
              <p:nvPr/>
            </p:nvSpPr>
            <p:spPr>
              <a:xfrm>
                <a:off x="768261" y="3087010"/>
                <a:ext cx="9781658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rPr>
                  <a:t>○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  기술적 제약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b="1" dirty="0">
                    <a:solidFill>
                      <a:schemeClr val="tx1"/>
                    </a:solidFill>
                  </a:rPr>
                  <a:t>해결전략</a:t>
                </a:r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endParaRPr lang="en-US" altLang="ko-KR" sz="800" b="1" dirty="0">
                  <a:solidFill>
                    <a:schemeClr val="tx1"/>
                  </a:solidFill>
                </a:endParaRPr>
              </a:p>
              <a:p>
                <a:pPr marL="185738" indent="-185738"/>
                <a:r>
                  <a:rPr lang="en-US" altLang="ko-KR" dirty="0">
                    <a:solidFill>
                      <a:schemeClr val="tx1"/>
                    </a:solidFill>
                  </a:rPr>
                  <a:t>  -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다양한 변종 범죄 급증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범죄구조화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임베딩을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통한 변형 대응 필요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marL="185738" indent="-185738"/>
                <a:r>
                  <a:rPr lang="en-US" altLang="ko-KR" dirty="0">
                    <a:solidFill>
                      <a:schemeClr val="tx1"/>
                    </a:solidFill>
                  </a:rPr>
                  <a:t>  -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심리지배 전 적기 분석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경보 필요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하지만 고성능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임베딩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적용시 분석 시간 상승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휴대폰 성능 환경에 따른 제약 존재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marL="185738" indent="-185738"/>
                <a:r>
                  <a:rPr lang="en-US" altLang="ko-KR" dirty="0">
                    <a:solidFill>
                      <a:schemeClr val="tx1"/>
                    </a:solidFill>
                  </a:rPr>
                  <a:t>  </a:t>
                </a:r>
                <a:r>
                  <a:rPr lang="ko-KR" altLang="ko-KR" dirty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⇒</a:t>
                </a:r>
                <a:r>
                  <a:rPr lang="en-US" altLang="ko-KR" dirty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b="1" dirty="0">
                    <a:solidFill>
                      <a:srgbClr val="FF0000"/>
                    </a:solidFill>
                  </a:rPr>
                  <a:t>사전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고성능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임베딩</a:t>
                </a:r>
                <a:r>
                  <a:rPr lang="ko-KR" altLang="en-US" dirty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 활용으로 </a:t>
                </a:r>
                <a:r>
                  <a:rPr lang="ko-KR" altLang="en-US" b="1" dirty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변종 수법 예방</a:t>
                </a:r>
                <a:r>
                  <a:rPr lang="en-US" altLang="ko-KR" b="1" dirty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!</a:t>
                </a:r>
                <a:r>
                  <a:rPr lang="en-US" altLang="ko-KR" dirty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 </a:t>
                </a:r>
                <a:r>
                  <a:rPr lang="ko-KR" altLang="en-US" b="1" dirty="0">
                    <a:solidFill>
                      <a:srgbClr val="FF0000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실시간 최적화</a:t>
                </a:r>
                <a:r>
                  <a:rPr lang="ko-KR" altLang="en-US" dirty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임베딩</a:t>
                </a:r>
                <a:r>
                  <a:rPr lang="ko-KR" altLang="en-US" dirty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 활용으로 </a:t>
                </a:r>
                <a:r>
                  <a:rPr lang="ko-KR" altLang="en-US" b="1" dirty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추가변형 모니터링</a:t>
                </a:r>
                <a:r>
                  <a:rPr lang="en-US" altLang="ko-KR" b="1" dirty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rPr>
                  <a:t>!</a:t>
                </a:r>
                <a:endParaRPr lang="en-US" altLang="ko-K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342D4C1-2267-79C5-08CC-49B49B37D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261" y="3087010"/>
                <a:ext cx="9781658" cy="1077218"/>
              </a:xfrm>
              <a:prstGeom prst="rect">
                <a:avLst/>
              </a:prstGeom>
              <a:blipFill>
                <a:blip r:embed="rId4"/>
                <a:stretch>
                  <a:fillRect l="-187" t="-1130" b="-56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75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13E51-7E51-66E0-11E8-1284D38E4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D1B57C9-7DBB-FDF8-4428-CD355424AEBE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199C1381-F9FE-5DA8-793A-B681EF57DEF7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D27009-4ED1-7D1A-5936-93500C45A8DE}"/>
              </a:ext>
            </a:extLst>
          </p:cNvPr>
          <p:cNvSpPr txBox="1"/>
          <p:nvPr/>
        </p:nvSpPr>
        <p:spPr>
          <a:xfrm>
            <a:off x="939332" y="1189703"/>
            <a:ext cx="3966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데이터 및 기술 활용 </a:t>
            </a:r>
            <a:r>
              <a:rPr lang="en-US" altLang="ko-KR" dirty="0">
                <a:latin typeface="+mj-ea"/>
                <a:ea typeface="+mj-ea"/>
              </a:rPr>
              <a:t>(Data &amp; Tech)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B015BD98-7B9A-BB66-1541-ED3C14CE7F3A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oogle Shape;92;p1">
            <a:extLst>
              <a:ext uri="{FF2B5EF4-FFF2-40B4-BE49-F238E27FC236}">
                <a16:creationId xmlns:a16="http://schemas.microsoft.com/office/drawing/2014/main" id="{D21E01E8-5826-B5B8-7E08-FD4BC86A402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84371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2" descr="주)데이터유니버스 2025년 기업정보 | 직원수, 근무환경, 복리후생 등 - 사람인">
            <a:extLst>
              <a:ext uri="{FF2B5EF4-FFF2-40B4-BE49-F238E27FC236}">
                <a16:creationId xmlns:a16="http://schemas.microsoft.com/office/drawing/2014/main" id="{14262A42-CBFA-BCA7-9B2F-F26E47D09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817" y="6443474"/>
            <a:ext cx="1524000" cy="414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Google Shape;99;p2">
            <a:extLst>
              <a:ext uri="{FF2B5EF4-FFF2-40B4-BE49-F238E27FC236}">
                <a16:creationId xmlns:a16="http://schemas.microsoft.com/office/drawing/2014/main" id="{24333DC5-0890-46DE-CC2D-2621D305CC45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C1202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01;p2">
            <a:extLst>
              <a:ext uri="{FF2B5EF4-FFF2-40B4-BE49-F238E27FC236}">
                <a16:creationId xmlns:a16="http://schemas.microsoft.com/office/drawing/2014/main" id="{F1441C16-350B-6875-E08A-DF46AACCD17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B4F4B011-25C3-F8D5-2E11-E612F838C228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20914BFD-CCE2-385F-238C-26B8E51D355F}"/>
              </a:ext>
            </a:extLst>
          </p:cNvPr>
          <p:cNvSpPr txBox="1"/>
          <p:nvPr/>
        </p:nvSpPr>
        <p:spPr>
          <a:xfrm>
            <a:off x="8742667" y="229867"/>
            <a:ext cx="3532681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피싱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ko-KR" altLang="en-US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스캠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예방을 위한 서비스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경진대회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C70EFB-3AA4-58B2-9E79-BC71D55792F4}"/>
              </a:ext>
            </a:extLst>
          </p:cNvPr>
          <p:cNvSpPr txBox="1"/>
          <p:nvPr/>
        </p:nvSpPr>
        <p:spPr>
          <a:xfrm>
            <a:off x="755713" y="1736012"/>
            <a:ext cx="7986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○</a:t>
            </a:r>
            <a:r>
              <a:rPr lang="ko-KR" altLang="en-US" b="1" dirty="0">
                <a:solidFill>
                  <a:schemeClr val="tx1"/>
                </a:solidFill>
              </a:rPr>
              <a:t>  시나리오 분석 구조</a:t>
            </a:r>
            <a:r>
              <a:rPr lang="en-US" altLang="ko-KR" b="1" dirty="0">
                <a:solidFill>
                  <a:schemeClr val="tx1"/>
                </a:solidFill>
              </a:rPr>
              <a:t>(22</a:t>
            </a:r>
            <a:r>
              <a:rPr lang="ko-KR" altLang="en-US" b="1" dirty="0">
                <a:solidFill>
                  <a:schemeClr val="tx1"/>
                </a:solidFill>
              </a:rPr>
              <a:t>개 시나리오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추가확장 가능</a:t>
            </a:r>
            <a:r>
              <a:rPr lang="en-US" altLang="ko-KR" b="1" dirty="0">
                <a:solidFill>
                  <a:schemeClr val="tx1"/>
                </a:solidFill>
              </a:rPr>
              <a:t>) </a:t>
            </a:r>
            <a:r>
              <a:rPr lang="en-US" altLang="ko-KR" sz="1100" b="1" dirty="0">
                <a:solidFill>
                  <a:schemeClr val="tx1"/>
                </a:solidFill>
              </a:rPr>
              <a:t>* </a:t>
            </a:r>
            <a:r>
              <a:rPr lang="ko-KR" altLang="en-US" sz="1100" b="1" dirty="0" err="1">
                <a:solidFill>
                  <a:schemeClr val="tx1"/>
                </a:solidFill>
              </a:rPr>
              <a:t>일부발췌</a:t>
            </a:r>
            <a:endParaRPr lang="en-US" altLang="ko-KR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840F71D-5EFF-5407-62C3-ADC093E31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997326"/>
              </p:ext>
            </p:extLst>
          </p:nvPr>
        </p:nvGraphicFramePr>
        <p:xfrm>
          <a:off x="939332" y="2428988"/>
          <a:ext cx="10483566" cy="286997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47261">
                  <a:extLst>
                    <a:ext uri="{9D8B030D-6E8A-4147-A177-3AD203B41FA5}">
                      <a16:colId xmlns:a16="http://schemas.microsoft.com/office/drawing/2014/main" val="870921213"/>
                    </a:ext>
                  </a:extLst>
                </a:gridCol>
                <a:gridCol w="1747261">
                  <a:extLst>
                    <a:ext uri="{9D8B030D-6E8A-4147-A177-3AD203B41FA5}">
                      <a16:colId xmlns:a16="http://schemas.microsoft.com/office/drawing/2014/main" val="2531053121"/>
                    </a:ext>
                  </a:extLst>
                </a:gridCol>
                <a:gridCol w="1747261">
                  <a:extLst>
                    <a:ext uri="{9D8B030D-6E8A-4147-A177-3AD203B41FA5}">
                      <a16:colId xmlns:a16="http://schemas.microsoft.com/office/drawing/2014/main" val="1878520867"/>
                    </a:ext>
                  </a:extLst>
                </a:gridCol>
                <a:gridCol w="1747261">
                  <a:extLst>
                    <a:ext uri="{9D8B030D-6E8A-4147-A177-3AD203B41FA5}">
                      <a16:colId xmlns:a16="http://schemas.microsoft.com/office/drawing/2014/main" val="1912338678"/>
                    </a:ext>
                  </a:extLst>
                </a:gridCol>
                <a:gridCol w="1747261">
                  <a:extLst>
                    <a:ext uri="{9D8B030D-6E8A-4147-A177-3AD203B41FA5}">
                      <a16:colId xmlns:a16="http://schemas.microsoft.com/office/drawing/2014/main" val="1439100132"/>
                    </a:ext>
                  </a:extLst>
                </a:gridCol>
                <a:gridCol w="1747261">
                  <a:extLst>
                    <a:ext uri="{9D8B030D-6E8A-4147-A177-3AD203B41FA5}">
                      <a16:colId xmlns:a16="http://schemas.microsoft.com/office/drawing/2014/main" val="617954768"/>
                    </a:ext>
                  </a:extLst>
                </a:gridCol>
              </a:tblGrid>
              <a:tr h="5527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시나리오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주요앵커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종결행동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정밀엔진 트리거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추가단서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확정단서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506127"/>
                  </a:ext>
                </a:extLst>
              </a:tr>
              <a:tr h="7723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수사기관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사칭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검찰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경찰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사건</a:t>
                      </a:r>
                      <a:r>
                        <a:rPr lang="en-US" altLang="ko-KR" dirty="0"/>
                        <a:t>,</a:t>
                      </a:r>
                    </a:p>
                    <a:p>
                      <a:pPr algn="ctr" latinLnBrk="1"/>
                      <a:r>
                        <a:rPr lang="ko-KR" altLang="en-US" dirty="0"/>
                        <a:t>압류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구속 등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로그인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이체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이동 유도</a:t>
                      </a:r>
                      <a:r>
                        <a:rPr lang="en-US" altLang="ko-KR" dirty="0"/>
                        <a:t>, OTP/</a:t>
                      </a:r>
                    </a:p>
                    <a:p>
                      <a:pPr algn="ctr" latinLnBrk="1"/>
                      <a:r>
                        <a:rPr lang="ko-KR" altLang="en-US" dirty="0"/>
                        <a:t>비밀번호 유도 등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앵커</a:t>
                      </a:r>
                      <a:r>
                        <a:rPr lang="en-US" altLang="ko-KR" dirty="0"/>
                        <a:t>+</a:t>
                      </a:r>
                      <a:r>
                        <a:rPr lang="ko-KR" altLang="en-US" dirty="0"/>
                        <a:t>종결행동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통화 유지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비밀</a:t>
                      </a:r>
                      <a:r>
                        <a:rPr lang="en-US" altLang="ko-KR" dirty="0"/>
                        <a:t>, </a:t>
                      </a:r>
                    </a:p>
                    <a:p>
                      <a:pPr algn="ctr" latinLnBrk="1"/>
                      <a:r>
                        <a:rPr lang="ko-KR" altLang="en-US" dirty="0"/>
                        <a:t>대화 통제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압박</a:t>
                      </a:r>
                      <a:r>
                        <a:rPr lang="en-US" altLang="ko-KR" dirty="0"/>
                        <a:t>, </a:t>
                      </a:r>
                    </a:p>
                    <a:p>
                      <a:pPr algn="ctr" latinLnBrk="1"/>
                      <a:r>
                        <a:rPr lang="ko-KR" altLang="en-US" dirty="0"/>
                        <a:t>비공식전화번호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개인번호 등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algn="ctr" latinLnBrk="1"/>
                      <a:r>
                        <a:rPr lang="ko-KR" altLang="en-US" dirty="0"/>
                        <a:t>등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OTP/</a:t>
                      </a:r>
                      <a:r>
                        <a:rPr lang="ko-KR" altLang="en-US" dirty="0"/>
                        <a:t>비밀번호 요구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악성 </a:t>
                      </a:r>
                      <a:r>
                        <a:rPr lang="en-US" altLang="ko-KR" dirty="0"/>
                        <a:t>URL </a:t>
                      </a:r>
                      <a:r>
                        <a:rPr lang="ko-KR" altLang="en-US" dirty="0"/>
                        <a:t>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32337"/>
                  </a:ext>
                </a:extLst>
              </a:tr>
              <a:tr h="7723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금융기관 사칭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은행명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고객센터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계좌점검 등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590788"/>
                  </a:ext>
                </a:extLst>
              </a:tr>
              <a:tr h="7723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취업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고수익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단기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알바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등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 “</a:t>
                      </a:r>
                      <a:r>
                        <a:rPr lang="ko-KR" altLang="en-US" dirty="0"/>
                        <a:t>단기 고수익</a:t>
                      </a:r>
                      <a:r>
                        <a:rPr lang="en-US" altLang="ko-KR" dirty="0"/>
                        <a:t>＂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095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145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2E15-49DB-DBA2-9F76-5D086ABD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9093888-EE73-841E-FF7E-3153D90098A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8CFC5612-8D2C-C4B7-94C1-6D278FEF617E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65450A-C406-F66D-7246-8B3CE4B5F9FE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Scenario)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66DB5E4-99DB-B891-A402-F82B9BBE882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oogle Shape;92;p1">
            <a:extLst>
              <a:ext uri="{FF2B5EF4-FFF2-40B4-BE49-F238E27FC236}">
                <a16:creationId xmlns:a16="http://schemas.microsoft.com/office/drawing/2014/main" id="{80C773B6-497A-47ED-5CCD-2D66E577046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84371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2" descr="주)데이터유니버스 2025년 기업정보 | 직원수, 근무환경, 복리후생 등 - 사람인">
            <a:extLst>
              <a:ext uri="{FF2B5EF4-FFF2-40B4-BE49-F238E27FC236}">
                <a16:creationId xmlns:a16="http://schemas.microsoft.com/office/drawing/2014/main" id="{AAAE7AEE-254B-B482-AC84-A0694FBC4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817" y="6443474"/>
            <a:ext cx="1524000" cy="414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Google Shape;99;p2">
            <a:extLst>
              <a:ext uri="{FF2B5EF4-FFF2-40B4-BE49-F238E27FC236}">
                <a16:creationId xmlns:a16="http://schemas.microsoft.com/office/drawing/2014/main" id="{7A729C12-5604-1D77-40CD-DF89107D9573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C1202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01;p2">
            <a:extLst>
              <a:ext uri="{FF2B5EF4-FFF2-40B4-BE49-F238E27FC236}">
                <a16:creationId xmlns:a16="http://schemas.microsoft.com/office/drawing/2014/main" id="{7EA09B4F-3D89-2800-FC20-5B7B5848E814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BF138AD5-46CB-5ED6-B503-1D82E8C6040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6.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Scenario)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1E0F8401-183F-B8A2-8922-509F4FD8A94E}"/>
              </a:ext>
            </a:extLst>
          </p:cNvPr>
          <p:cNvSpPr txBox="1"/>
          <p:nvPr/>
        </p:nvSpPr>
        <p:spPr>
          <a:xfrm>
            <a:off x="8742667" y="229867"/>
            <a:ext cx="3532681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피싱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ko-KR" altLang="en-US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스캠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예방을 위한 서비스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경진대회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C02996-FE13-3913-5D5B-A476276FD90F}"/>
              </a:ext>
            </a:extLst>
          </p:cNvPr>
          <p:cNvSpPr txBox="1"/>
          <p:nvPr/>
        </p:nvSpPr>
        <p:spPr>
          <a:xfrm>
            <a:off x="939331" y="1808384"/>
            <a:ext cx="105124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○</a:t>
            </a:r>
            <a:r>
              <a:rPr lang="ko-KR" altLang="en-US" b="1" dirty="0">
                <a:solidFill>
                  <a:schemeClr val="tx1"/>
                </a:solidFill>
              </a:rPr>
              <a:t>  사용자 시나리오</a:t>
            </a:r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pPr marL="185738" indent="-185738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b="1" dirty="0">
                <a:solidFill>
                  <a:schemeClr val="tx1"/>
                </a:solidFill>
              </a:rPr>
              <a:t>입력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/>
              <a:t>대화</a:t>
            </a:r>
            <a:r>
              <a:rPr lang="en-US" altLang="ko-KR" dirty="0"/>
              <a:t>/</a:t>
            </a:r>
            <a:r>
              <a:rPr lang="ko-KR" altLang="en-US" dirty="0"/>
              <a:t>문자 내용을 붙여넣기</a:t>
            </a:r>
            <a:r>
              <a:rPr lang="en-US" altLang="ko-KR" dirty="0"/>
              <a:t>(</a:t>
            </a:r>
            <a:r>
              <a:rPr lang="ko-KR" altLang="en-US" dirty="0"/>
              <a:t>스레드 형태</a:t>
            </a:r>
            <a:r>
              <a:rPr lang="en-US" altLang="ko-KR" dirty="0"/>
              <a:t>) + </a:t>
            </a:r>
            <a:r>
              <a:rPr lang="ko-KR" altLang="en-US" dirty="0"/>
              <a:t>필요 시 </a:t>
            </a:r>
            <a:r>
              <a:rPr lang="ko-KR" altLang="en-US" b="1" dirty="0"/>
              <a:t>콜 컨텍스트</a:t>
            </a:r>
            <a:r>
              <a:rPr lang="en-US" altLang="ko-KR" b="1" dirty="0"/>
              <a:t>(OTP/</a:t>
            </a:r>
            <a:r>
              <a:rPr lang="ko-KR" altLang="en-US" b="1" dirty="0"/>
              <a:t>원격</a:t>
            </a:r>
            <a:r>
              <a:rPr lang="en-US" altLang="ko-KR" b="1" dirty="0"/>
              <a:t>/</a:t>
            </a:r>
            <a:r>
              <a:rPr lang="ko-KR" altLang="en-US" b="1" dirty="0"/>
              <a:t>압박</a:t>
            </a:r>
            <a:r>
              <a:rPr lang="en-US" altLang="ko-KR" b="1" dirty="0"/>
              <a:t>)</a:t>
            </a:r>
            <a:r>
              <a:rPr lang="ko-KR" altLang="en-US" dirty="0"/>
              <a:t> 체크</a:t>
            </a:r>
            <a:endParaRPr lang="en-US" altLang="ko-KR" dirty="0">
              <a:solidFill>
                <a:schemeClr val="tx1"/>
              </a:solidFill>
            </a:endParaRPr>
          </a:p>
          <a:p>
            <a:pPr marL="185738" indent="-185738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b="1" dirty="0">
                <a:solidFill>
                  <a:schemeClr val="tx1"/>
                </a:solidFill>
              </a:rPr>
              <a:t>즉시 판별</a:t>
            </a:r>
            <a:r>
              <a:rPr lang="en-US" altLang="ko-KR" b="1" dirty="0">
                <a:solidFill>
                  <a:schemeClr val="tx1"/>
                </a:solidFill>
              </a:rPr>
              <a:t>(</a:t>
            </a:r>
            <a:r>
              <a:rPr lang="ko-KR" altLang="en-US" b="1" dirty="0" err="1">
                <a:solidFill>
                  <a:schemeClr val="tx1"/>
                </a:solidFill>
              </a:rPr>
              <a:t>프리필터</a:t>
            </a:r>
            <a:r>
              <a:rPr lang="en-US" altLang="ko-KR" b="1" dirty="0">
                <a:solidFill>
                  <a:schemeClr val="tx1"/>
                </a:solidFill>
              </a:rPr>
              <a:t>)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en-US" altLang="ko-KR" dirty="0"/>
              <a:t>URL/</a:t>
            </a:r>
            <a:r>
              <a:rPr lang="ko-KR" altLang="en-US" dirty="0"/>
              <a:t>설치</a:t>
            </a:r>
            <a:r>
              <a:rPr lang="en-US" altLang="ko-KR" dirty="0"/>
              <a:t>/OTP/</a:t>
            </a:r>
            <a:r>
              <a:rPr lang="ko-KR" altLang="en-US" dirty="0"/>
              <a:t>이체</a:t>
            </a:r>
            <a:r>
              <a:rPr lang="en-US" altLang="ko-KR" dirty="0"/>
              <a:t>/ATM/</a:t>
            </a:r>
            <a:r>
              <a:rPr lang="ko-KR" altLang="en-US" dirty="0"/>
              <a:t>방문</a:t>
            </a:r>
            <a:r>
              <a:rPr lang="en-US" altLang="ko-KR" dirty="0"/>
              <a:t>/</a:t>
            </a:r>
            <a:r>
              <a:rPr lang="ko-KR" altLang="en-US" dirty="0"/>
              <a:t>협박 등 “분석 필요” 신호 감지</a:t>
            </a:r>
            <a:endParaRPr lang="en-US" altLang="ko-KR" dirty="0"/>
          </a:p>
          <a:p>
            <a:pPr marL="185738" indent="-185738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b="1" dirty="0"/>
              <a:t>정밀 분석</a:t>
            </a:r>
            <a:r>
              <a:rPr lang="en-US" altLang="ko-KR" b="1" dirty="0"/>
              <a:t>(Full)</a:t>
            </a:r>
            <a:r>
              <a:rPr lang="en-US" altLang="ko-KR" dirty="0"/>
              <a:t>: </a:t>
            </a:r>
            <a:r>
              <a:rPr lang="ko-KR" altLang="en-US" dirty="0"/>
              <a:t>시나리오 앵커 </a:t>
            </a:r>
            <a:r>
              <a:rPr lang="en-US" altLang="ko-KR" dirty="0"/>
              <a:t>+ </a:t>
            </a:r>
            <a:r>
              <a:rPr lang="ko-KR" altLang="en-US" dirty="0"/>
              <a:t>종결행동 조합으로 위험 점수</a:t>
            </a:r>
            <a:r>
              <a:rPr lang="en-US" altLang="ko-KR" dirty="0"/>
              <a:t>/</a:t>
            </a:r>
            <a:r>
              <a:rPr lang="ko-KR" altLang="en-US" dirty="0"/>
              <a:t>단계 산출</a:t>
            </a:r>
            <a:endParaRPr lang="en-US" altLang="ko-KR" dirty="0"/>
          </a:p>
          <a:p>
            <a:pPr marL="185738" indent="-185738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b="1" dirty="0"/>
              <a:t>근거 제시 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185738" indent="-185738"/>
            <a:r>
              <a:rPr lang="en-US" altLang="ko-KR" dirty="0">
                <a:solidFill>
                  <a:schemeClr val="tx1"/>
                </a:solidFill>
              </a:rPr>
              <a:t>   </a:t>
            </a:r>
            <a:r>
              <a:rPr lang="en-US" altLang="ko-KR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〮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b="1" dirty="0"/>
              <a:t>확정단서</a:t>
            </a:r>
            <a:r>
              <a:rPr lang="en-US" altLang="ko-KR" b="1" dirty="0"/>
              <a:t>(High </a:t>
            </a:r>
            <a:r>
              <a:rPr lang="ko-KR" altLang="en-US" b="1" dirty="0"/>
              <a:t>후보</a:t>
            </a:r>
            <a:r>
              <a:rPr lang="en-US" altLang="ko-KR" b="1" dirty="0"/>
              <a:t>)</a:t>
            </a:r>
            <a:r>
              <a:rPr lang="en-US" altLang="ko-KR" dirty="0"/>
              <a:t>: OTP </a:t>
            </a:r>
            <a:r>
              <a:rPr lang="ko-KR" altLang="en-US" dirty="0"/>
              <a:t>전달 요구 </a:t>
            </a:r>
            <a:r>
              <a:rPr lang="en-US" altLang="ko-KR" dirty="0"/>
              <a:t>/ </a:t>
            </a:r>
            <a:r>
              <a:rPr lang="ko-KR" altLang="en-US" dirty="0" err="1"/>
              <a:t>원격앱</a:t>
            </a:r>
            <a:r>
              <a:rPr lang="en-US" altLang="ko-KR" dirty="0"/>
              <a:t>+</a:t>
            </a:r>
            <a:r>
              <a:rPr lang="ko-KR" altLang="en-US" dirty="0"/>
              <a:t>권한 </a:t>
            </a:r>
            <a:r>
              <a:rPr lang="en-US" altLang="ko-KR" dirty="0"/>
              <a:t>/ </a:t>
            </a:r>
            <a:r>
              <a:rPr lang="ko-KR" altLang="en-US" dirty="0"/>
              <a:t>안전계좌 이체 </a:t>
            </a:r>
            <a:r>
              <a:rPr lang="en-US" altLang="ko-KR" dirty="0"/>
              <a:t>/ ATM </a:t>
            </a:r>
            <a:r>
              <a:rPr lang="ko-KR" altLang="en-US" dirty="0"/>
              <a:t>조작 지시 </a:t>
            </a:r>
            <a:r>
              <a:rPr lang="en-US" altLang="ko-KR" dirty="0"/>
              <a:t>/ </a:t>
            </a:r>
            <a:r>
              <a:rPr lang="ko-KR" altLang="en-US" dirty="0"/>
              <a:t>현금수거</a:t>
            </a:r>
            <a:r>
              <a:rPr lang="en-US" altLang="ko-KR" dirty="0"/>
              <a:t>+</a:t>
            </a:r>
            <a:r>
              <a:rPr lang="ko-KR" altLang="en-US" dirty="0"/>
              <a:t>장소</a:t>
            </a:r>
            <a:r>
              <a:rPr lang="en-US" altLang="ko-KR" dirty="0"/>
              <a:t>·</a:t>
            </a:r>
            <a:r>
              <a:rPr lang="ko-KR" altLang="en-US" dirty="0"/>
              <a:t>시간 </a:t>
            </a:r>
            <a:r>
              <a:rPr lang="en-US" altLang="ko-KR" dirty="0"/>
              <a:t>/ </a:t>
            </a:r>
            <a:r>
              <a:rPr lang="ko-KR" altLang="en-US" dirty="0"/>
              <a:t>통제</a:t>
            </a:r>
            <a:r>
              <a:rPr lang="en-US" altLang="ko-KR" dirty="0"/>
              <a:t>(</a:t>
            </a:r>
            <a:r>
              <a:rPr lang="ko-KR" altLang="en-US" dirty="0"/>
              <a:t>비밀유지</a:t>
            </a:r>
            <a:r>
              <a:rPr lang="en-US" altLang="ko-KR" dirty="0"/>
              <a:t>·</a:t>
            </a:r>
            <a:r>
              <a:rPr lang="ko-KR" altLang="en-US" dirty="0"/>
              <a:t>삭제</a:t>
            </a:r>
            <a:r>
              <a:rPr lang="en-US" altLang="ko-KR" dirty="0"/>
              <a:t>·</a:t>
            </a:r>
            <a:r>
              <a:rPr lang="ko-KR" altLang="en-US" dirty="0"/>
              <a:t>통화유지</a:t>
            </a:r>
            <a:r>
              <a:rPr lang="en-US" altLang="ko-KR" dirty="0"/>
              <a:t>)</a:t>
            </a:r>
          </a:p>
          <a:p>
            <a:pPr marL="185738" indent="-185738"/>
            <a:r>
              <a:rPr lang="en-US" altLang="ko-KR" dirty="0">
                <a:solidFill>
                  <a:schemeClr val="tx1"/>
                </a:solidFill>
              </a:rPr>
              <a:t>  </a:t>
            </a:r>
            <a:r>
              <a:rPr lang="en-US" altLang="ko-KR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〮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b="1" dirty="0"/>
              <a:t>추가단서</a:t>
            </a:r>
            <a:r>
              <a:rPr lang="en-US" altLang="ko-KR" dirty="0"/>
              <a:t>: </a:t>
            </a:r>
            <a:r>
              <a:rPr lang="ko-KR" altLang="en-US" dirty="0"/>
              <a:t>사칭 키워드</a:t>
            </a:r>
            <a:r>
              <a:rPr lang="en-US" altLang="ko-KR" dirty="0"/>
              <a:t>, </a:t>
            </a:r>
            <a:r>
              <a:rPr lang="ko-KR" altLang="en-US" dirty="0"/>
              <a:t>압박 표현</a:t>
            </a:r>
            <a:r>
              <a:rPr lang="en-US" altLang="ko-KR" dirty="0"/>
              <a:t>, </a:t>
            </a:r>
            <a:r>
              <a:rPr lang="ko-KR" altLang="en-US" dirty="0"/>
              <a:t>링크 형태</a:t>
            </a:r>
            <a:r>
              <a:rPr lang="en-US" altLang="ko-KR" dirty="0"/>
              <a:t>, </a:t>
            </a:r>
            <a:r>
              <a:rPr lang="ko-KR" altLang="en-US" dirty="0"/>
              <a:t>연락</a:t>
            </a:r>
            <a:r>
              <a:rPr lang="en-US" altLang="ko-KR" dirty="0"/>
              <a:t>/</a:t>
            </a:r>
            <a:r>
              <a:rPr lang="ko-KR" altLang="en-US" dirty="0"/>
              <a:t>장소 이동 유도 등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</a:p>
          <a:p>
            <a:pPr marL="185738" indent="-185738"/>
            <a:r>
              <a:rPr lang="en-US" altLang="ko-KR" dirty="0">
                <a:solidFill>
                  <a:schemeClr val="tx1"/>
                </a:solidFill>
              </a:rPr>
              <a:t> - </a:t>
            </a:r>
            <a:r>
              <a:rPr lang="ko-KR" altLang="en-US" b="1" dirty="0"/>
              <a:t>대응 가이드</a:t>
            </a:r>
            <a:r>
              <a:rPr lang="en-US" altLang="ko-KR" dirty="0"/>
              <a:t>: “</a:t>
            </a:r>
            <a:r>
              <a:rPr lang="ko-KR" altLang="en-US" dirty="0"/>
              <a:t>지금 중단해야 할 행동</a:t>
            </a:r>
            <a:r>
              <a:rPr lang="en-US" altLang="ko-KR" dirty="0"/>
              <a:t>(</a:t>
            </a:r>
            <a:r>
              <a:rPr lang="ko-KR" altLang="en-US" dirty="0"/>
              <a:t>송금</a:t>
            </a:r>
            <a:r>
              <a:rPr lang="en-US" altLang="ko-KR" dirty="0"/>
              <a:t>·</a:t>
            </a:r>
            <a:r>
              <a:rPr lang="ko-KR" altLang="en-US" dirty="0"/>
              <a:t>설치</a:t>
            </a:r>
            <a:r>
              <a:rPr lang="en-US" altLang="ko-KR" dirty="0"/>
              <a:t>·OTP </a:t>
            </a:r>
            <a:r>
              <a:rPr lang="ko-KR" altLang="en-US" dirty="0"/>
              <a:t>공유 등</a:t>
            </a:r>
            <a:r>
              <a:rPr lang="en-US" altLang="ko-KR" dirty="0"/>
              <a:t>)” + “</a:t>
            </a:r>
            <a:r>
              <a:rPr lang="ko-KR" altLang="en-US" dirty="0"/>
              <a:t>공식 경로로 확인</a:t>
            </a:r>
            <a:r>
              <a:rPr lang="en-US" altLang="ko-KR" dirty="0"/>
              <a:t>/</a:t>
            </a:r>
            <a:r>
              <a:rPr lang="ko-KR" altLang="en-US" dirty="0"/>
              <a:t>차단</a:t>
            </a:r>
            <a:r>
              <a:rPr lang="en-US" altLang="ko-KR" dirty="0"/>
              <a:t>/</a:t>
            </a:r>
            <a:r>
              <a:rPr lang="ko-KR" altLang="en-US" dirty="0"/>
              <a:t>신고” 체크리스트 제공</a:t>
            </a:r>
            <a:endParaRPr lang="en-US" altLang="ko-KR" dirty="0">
              <a:solidFill>
                <a:schemeClr val="tx1"/>
              </a:solidFill>
            </a:endParaRPr>
          </a:p>
          <a:p>
            <a:pPr marL="185738" indent="-185738"/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○</a:t>
            </a:r>
            <a:r>
              <a:rPr lang="ko-KR" altLang="en-US" b="1" dirty="0">
                <a:solidFill>
                  <a:schemeClr val="tx1"/>
                </a:solidFill>
              </a:rPr>
              <a:t>  대표 </a:t>
            </a:r>
            <a:r>
              <a:rPr lang="ko-KR" altLang="en-US" b="1" dirty="0" err="1">
                <a:solidFill>
                  <a:schemeClr val="tx1"/>
                </a:solidFill>
              </a:rPr>
              <a:t>유즈케이스</a:t>
            </a:r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pPr marL="271463" indent="-271463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b="1" dirty="0"/>
              <a:t>기관</a:t>
            </a:r>
            <a:r>
              <a:rPr lang="en-US" altLang="ko-KR" b="1" dirty="0"/>
              <a:t>/</a:t>
            </a:r>
            <a:r>
              <a:rPr lang="ko-KR" altLang="en-US" b="1" dirty="0"/>
              <a:t>은행 사칭 → 안전계좌 이체 유도</a:t>
            </a:r>
            <a:r>
              <a:rPr lang="en-US" altLang="ko-KR" dirty="0"/>
              <a:t>: ‘</a:t>
            </a:r>
            <a:r>
              <a:rPr lang="ko-KR" altLang="en-US" dirty="0"/>
              <a:t>사건</a:t>
            </a:r>
            <a:r>
              <a:rPr lang="en-US" altLang="ko-KR" dirty="0"/>
              <a:t>/</a:t>
            </a:r>
            <a:r>
              <a:rPr lang="ko-KR" altLang="en-US" dirty="0"/>
              <a:t>동결’ 압박 </a:t>
            </a:r>
            <a:r>
              <a:rPr lang="en-US" altLang="ko-KR" dirty="0"/>
              <a:t>+ ‘</a:t>
            </a:r>
            <a:r>
              <a:rPr lang="ko-KR" altLang="en-US" dirty="0"/>
              <a:t>보호계좌’ </a:t>
            </a:r>
            <a:r>
              <a:rPr lang="en-US" altLang="ko-KR" dirty="0"/>
              <a:t>+ </a:t>
            </a:r>
            <a:r>
              <a:rPr lang="ko-KR" altLang="en-US" dirty="0"/>
              <a:t>이체 지시 → </a:t>
            </a:r>
            <a:r>
              <a:rPr lang="en-US" altLang="ko-KR" dirty="0"/>
              <a:t>High </a:t>
            </a:r>
            <a:r>
              <a:rPr lang="ko-KR" altLang="en-US" dirty="0"/>
              <a:t>근거 제시</a:t>
            </a:r>
            <a:endParaRPr lang="en-US" altLang="ko-KR" dirty="0"/>
          </a:p>
          <a:p>
            <a:pPr marL="271463" indent="-271463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b="1" dirty="0"/>
              <a:t>택배</a:t>
            </a:r>
            <a:r>
              <a:rPr lang="en-US" altLang="ko-KR" b="1" dirty="0"/>
              <a:t>/</a:t>
            </a:r>
            <a:r>
              <a:rPr lang="ko-KR" altLang="en-US" b="1" dirty="0"/>
              <a:t>고지 링크형</a:t>
            </a:r>
            <a:r>
              <a:rPr lang="en-US" altLang="ko-KR" dirty="0"/>
              <a:t>: </a:t>
            </a:r>
            <a:r>
              <a:rPr lang="ko-KR" altLang="en-US" dirty="0"/>
              <a:t>배송</a:t>
            </a:r>
            <a:r>
              <a:rPr lang="en-US" altLang="ko-KR" dirty="0"/>
              <a:t>/</a:t>
            </a:r>
            <a:r>
              <a:rPr lang="ko-KR" altLang="en-US" dirty="0"/>
              <a:t>미납</a:t>
            </a:r>
            <a:r>
              <a:rPr lang="en-US" altLang="ko-KR" dirty="0"/>
              <a:t>/</a:t>
            </a:r>
            <a:r>
              <a:rPr lang="ko-KR" altLang="en-US" dirty="0"/>
              <a:t>환급 키워드 </a:t>
            </a:r>
            <a:r>
              <a:rPr lang="en-US" altLang="ko-KR" dirty="0"/>
              <a:t>+ URL → </a:t>
            </a:r>
            <a:r>
              <a:rPr lang="ko-KR" altLang="en-US" dirty="0"/>
              <a:t>즉시 분석 → 링크</a:t>
            </a:r>
            <a:r>
              <a:rPr lang="en-US" altLang="ko-KR" dirty="0"/>
              <a:t>·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입력 유도 여부로 위험도 구분</a:t>
            </a:r>
            <a:endParaRPr lang="en-US" altLang="ko-KR" dirty="0">
              <a:solidFill>
                <a:schemeClr val="tx1"/>
              </a:solidFill>
            </a:endParaRPr>
          </a:p>
          <a:p>
            <a:pPr marL="271463" indent="-271463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b="1" dirty="0"/>
              <a:t>구직</a:t>
            </a:r>
            <a:r>
              <a:rPr lang="en-US" altLang="ko-KR" b="1" dirty="0"/>
              <a:t>/</a:t>
            </a:r>
            <a:r>
              <a:rPr lang="ko-KR" altLang="en-US" b="1" dirty="0"/>
              <a:t>알바 → 메신저 이동</a:t>
            </a:r>
            <a:r>
              <a:rPr lang="en-US" altLang="ko-KR" b="1" dirty="0"/>
              <a:t>/</a:t>
            </a:r>
            <a:r>
              <a:rPr lang="ko-KR" altLang="en-US" b="1" dirty="0"/>
              <a:t>장소 방문</a:t>
            </a:r>
            <a:r>
              <a:rPr lang="en-US" altLang="ko-KR" b="1" dirty="0"/>
              <a:t>/</a:t>
            </a:r>
            <a:r>
              <a:rPr lang="ko-KR" altLang="en-US" b="1" dirty="0"/>
              <a:t>보증금</a:t>
            </a:r>
            <a:r>
              <a:rPr lang="en-US" altLang="ko-KR" dirty="0"/>
              <a:t>: </a:t>
            </a:r>
            <a:r>
              <a:rPr lang="ko-KR" altLang="en-US" dirty="0"/>
              <a:t>고수익 훅</a:t>
            </a:r>
            <a:r>
              <a:rPr lang="en-US" altLang="ko-KR" dirty="0"/>
              <a:t>(soft) + </a:t>
            </a:r>
            <a:r>
              <a:rPr lang="ko-KR" altLang="en-US" dirty="0"/>
              <a:t>연락이동</a:t>
            </a:r>
            <a:r>
              <a:rPr lang="en-US" altLang="ko-KR" dirty="0"/>
              <a:t>/</a:t>
            </a:r>
            <a:r>
              <a:rPr lang="ko-KR" altLang="en-US" dirty="0"/>
              <a:t>방문</a:t>
            </a:r>
            <a:r>
              <a:rPr lang="en-US" altLang="ko-KR" dirty="0"/>
              <a:t>/</a:t>
            </a:r>
            <a:r>
              <a:rPr lang="ko-KR" altLang="en-US" dirty="0"/>
              <a:t>입금 결합 시 </a:t>
            </a:r>
            <a:r>
              <a:rPr lang="en-US" altLang="ko-KR" dirty="0"/>
              <a:t>High</a:t>
            </a:r>
            <a:r>
              <a:rPr lang="ko-KR" altLang="en-US" dirty="0"/>
              <a:t>로 상승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389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5D1B5-3FFF-C59F-69EE-822AEA56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D838C0B-5529-7B58-FED5-6071DAD928C6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E389A78D-88C9-7EE6-4B58-86BBF5CBD1A9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ECAB4B5-2738-A943-FE29-A76A05493367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9953E83-E407-B61E-5E64-17F3EA50FCB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oogle Shape;92;p1">
            <a:extLst>
              <a:ext uri="{FF2B5EF4-FFF2-40B4-BE49-F238E27FC236}">
                <a16:creationId xmlns:a16="http://schemas.microsoft.com/office/drawing/2014/main" id="{91FD56FA-425B-6108-E4B4-7E73952BC1A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84371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2" descr="주)데이터유니버스 2025년 기업정보 | 직원수, 근무환경, 복리후생 등 - 사람인">
            <a:extLst>
              <a:ext uri="{FF2B5EF4-FFF2-40B4-BE49-F238E27FC236}">
                <a16:creationId xmlns:a16="http://schemas.microsoft.com/office/drawing/2014/main" id="{55EBB7A9-3852-3285-2543-2BEF949A6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817" y="6443474"/>
            <a:ext cx="1524000" cy="414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Google Shape;99;p2">
            <a:extLst>
              <a:ext uri="{FF2B5EF4-FFF2-40B4-BE49-F238E27FC236}">
                <a16:creationId xmlns:a16="http://schemas.microsoft.com/office/drawing/2014/main" id="{D38FEFAD-AE80-6EE5-A4AE-180DE145FEE6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C1202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01;p2">
            <a:extLst>
              <a:ext uri="{FF2B5EF4-FFF2-40B4-BE49-F238E27FC236}">
                <a16:creationId xmlns:a16="http://schemas.microsoft.com/office/drawing/2014/main" id="{27568326-D783-35D1-F74C-E978C828FBD5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092B5F58-4C29-C5F8-0720-9DFB3E434D6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Google Shape;100;p2">
            <a:extLst>
              <a:ext uri="{FF2B5EF4-FFF2-40B4-BE49-F238E27FC236}">
                <a16:creationId xmlns:a16="http://schemas.microsoft.com/office/drawing/2014/main" id="{445DE910-71CE-1325-FCB5-6925814A779E}"/>
              </a:ext>
            </a:extLst>
          </p:cNvPr>
          <p:cNvSpPr txBox="1"/>
          <p:nvPr/>
        </p:nvSpPr>
        <p:spPr>
          <a:xfrm>
            <a:off x="8742667" y="229867"/>
            <a:ext cx="3532681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피싱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ko-KR" altLang="en-US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스캠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예방을 위한 서비스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경진대회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222B4A-E40E-EC74-AF1F-0EA4FFAB069A}"/>
              </a:ext>
            </a:extLst>
          </p:cNvPr>
          <p:cNvSpPr txBox="1"/>
          <p:nvPr/>
        </p:nvSpPr>
        <p:spPr>
          <a:xfrm>
            <a:off x="939331" y="1808384"/>
            <a:ext cx="1051243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○</a:t>
            </a:r>
            <a:r>
              <a:rPr lang="ko-KR" altLang="en-US" b="1" dirty="0">
                <a:solidFill>
                  <a:schemeClr val="tx1"/>
                </a:solidFill>
              </a:rPr>
              <a:t>  기대효과</a:t>
            </a:r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pPr marL="185738" indent="-185738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dirty="0">
                <a:solidFill>
                  <a:schemeClr val="tx1"/>
                </a:solidFill>
              </a:rPr>
              <a:t>개인정보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대화 미제공으로 </a:t>
            </a:r>
            <a:r>
              <a:rPr lang="ko-KR" altLang="en-US" b="1" dirty="0">
                <a:solidFill>
                  <a:schemeClr val="tx1"/>
                </a:solidFill>
              </a:rPr>
              <a:t>사용자 확대</a:t>
            </a:r>
            <a:r>
              <a:rPr lang="ko-KR" altLang="en-US" dirty="0">
                <a:solidFill>
                  <a:schemeClr val="tx1"/>
                </a:solidFill>
              </a:rPr>
              <a:t>를 통한 범죄예방 서비스 상용화</a:t>
            </a:r>
            <a:endParaRPr lang="en-US" altLang="ko-KR" dirty="0">
              <a:solidFill>
                <a:schemeClr val="tx1"/>
              </a:solidFill>
            </a:endParaRPr>
          </a:p>
          <a:p>
            <a:pPr marL="185738" indent="-185738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dirty="0">
                <a:solidFill>
                  <a:schemeClr val="tx1"/>
                </a:solidFill>
              </a:rPr>
              <a:t>정밀 분석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적기 개입으로 </a:t>
            </a:r>
            <a:r>
              <a:rPr lang="ko-KR" altLang="en-US" b="1" dirty="0">
                <a:solidFill>
                  <a:schemeClr val="tx1"/>
                </a:solidFill>
              </a:rPr>
              <a:t>실질적 범죄 예방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185738" indent="-185738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dirty="0" err="1">
                <a:solidFill>
                  <a:schemeClr val="tx1"/>
                </a:solidFill>
              </a:rPr>
              <a:t>고신뢰</a:t>
            </a:r>
            <a:r>
              <a:rPr lang="ko-KR" altLang="en-US" dirty="0">
                <a:solidFill>
                  <a:schemeClr val="tx1"/>
                </a:solidFill>
              </a:rPr>
              <a:t> 공식 데이터 실시간 수집으로 </a:t>
            </a:r>
            <a:r>
              <a:rPr lang="ko-KR" altLang="en-US" b="1" dirty="0">
                <a:solidFill>
                  <a:schemeClr val="tx1"/>
                </a:solidFill>
              </a:rPr>
              <a:t>범죄수법 다양화 대응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185738" indent="-185738"/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○</a:t>
            </a:r>
            <a:r>
              <a:rPr lang="ko-KR" altLang="en-US" b="1" dirty="0">
                <a:solidFill>
                  <a:schemeClr val="tx1"/>
                </a:solidFill>
              </a:rPr>
              <a:t>  향후 확장성</a:t>
            </a:r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pPr marL="271463" indent="-271463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dirty="0">
                <a:solidFill>
                  <a:schemeClr val="tx1"/>
                </a:solidFill>
              </a:rPr>
              <a:t>통신사 예방서비스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악성</a:t>
            </a:r>
            <a:r>
              <a:rPr lang="en-US" altLang="ko-KR" dirty="0">
                <a:solidFill>
                  <a:schemeClr val="tx1"/>
                </a:solidFill>
              </a:rPr>
              <a:t>URL </a:t>
            </a:r>
            <a:r>
              <a:rPr lang="ko-KR" altLang="en-US" dirty="0">
                <a:solidFill>
                  <a:schemeClr val="tx1"/>
                </a:solidFill>
              </a:rPr>
              <a:t>탐지 서비스 연계를 통한 기타 범죄 경로 차단 및 정밀 분석</a:t>
            </a:r>
            <a:endParaRPr lang="en-US" altLang="ko-KR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pPr marL="271463" indent="-271463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dirty="0">
                <a:solidFill>
                  <a:schemeClr val="tx1"/>
                </a:solidFill>
              </a:rPr>
              <a:t>안드로이드</a:t>
            </a:r>
            <a:r>
              <a:rPr lang="en-US" altLang="ko-KR" dirty="0">
                <a:solidFill>
                  <a:schemeClr val="tx1"/>
                </a:solidFill>
              </a:rPr>
              <a:t>/IOS </a:t>
            </a:r>
            <a:r>
              <a:rPr lang="ko-KR" altLang="en-US" dirty="0">
                <a:solidFill>
                  <a:schemeClr val="tx1"/>
                </a:solidFill>
              </a:rPr>
              <a:t>정책 실질 반영을 위해 초기모델은 앱에 접속하여 분석하는 앱 중심 서비스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안드로이드는 알림 정보 활용으로 실시간 </a:t>
            </a:r>
            <a:r>
              <a:rPr lang="ko-KR" altLang="en-US" dirty="0" err="1">
                <a:solidFill>
                  <a:schemeClr val="tx1"/>
                </a:solidFill>
              </a:rPr>
              <a:t>프리필터</a:t>
            </a:r>
            <a:r>
              <a:rPr lang="ko-KR" altLang="en-US" dirty="0">
                <a:solidFill>
                  <a:schemeClr val="tx1"/>
                </a:solidFill>
              </a:rPr>
              <a:t> 탐지 가능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  <a:p>
            <a:pPr marL="271463" indent="-271463"/>
            <a:r>
              <a:rPr lang="en-US" altLang="ko-KR" dirty="0">
                <a:solidFill>
                  <a:schemeClr val="tx1"/>
                </a:solidFill>
              </a:rPr>
              <a:t>  - </a:t>
            </a:r>
            <a:r>
              <a:rPr lang="ko-KR" altLang="en-US" dirty="0">
                <a:solidFill>
                  <a:schemeClr val="tx1"/>
                </a:solidFill>
              </a:rPr>
              <a:t>안드로이드의 경우 실제 메시지 앱으로 확장하여 스레드 환경 구축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확장</a:t>
            </a:r>
            <a:endParaRPr lang="en-US" altLang="ko-KR" dirty="0">
              <a:solidFill>
                <a:schemeClr val="tx1"/>
              </a:solidFill>
            </a:endParaRPr>
          </a:p>
          <a:p>
            <a:pPr marL="271463" indent="-271463"/>
            <a:r>
              <a:rPr lang="en-US" altLang="ko-KR" dirty="0">
                <a:solidFill>
                  <a:schemeClr val="tx1"/>
                </a:solidFill>
              </a:rPr>
              <a:t>  - IOS</a:t>
            </a:r>
            <a:r>
              <a:rPr lang="ko-KR" altLang="en-US" dirty="0">
                <a:solidFill>
                  <a:schemeClr val="tx1"/>
                </a:solidFill>
              </a:rPr>
              <a:t>의 경우 </a:t>
            </a:r>
            <a:r>
              <a:rPr lang="ko-KR" altLang="en-US" dirty="0" err="1">
                <a:solidFill>
                  <a:schemeClr val="tx1"/>
                </a:solidFill>
              </a:rPr>
              <a:t>메세지앱</a:t>
            </a:r>
            <a:r>
              <a:rPr lang="ko-KR" altLang="en-US" dirty="0">
                <a:solidFill>
                  <a:schemeClr val="tx1"/>
                </a:solidFill>
              </a:rPr>
              <a:t> 확장이 어려우나 클립보드 연계 등을 통해 접근성 강화 확장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9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3452</TotalTime>
  <Words>1283</Words>
  <Application>Microsoft Office PowerPoint</Application>
  <PresentationFormat>와이드스크린</PresentationFormat>
  <Paragraphs>155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KoPubWorld돋움체 Medium</vt:lpstr>
      <vt:lpstr>Pretendard_KR</vt:lpstr>
      <vt:lpstr>굴림</vt:lpstr>
      <vt:lpstr>Malgun Gothic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호석 고</cp:lastModifiedBy>
  <cp:revision>69</cp:revision>
  <dcterms:created xsi:type="dcterms:W3CDTF">2024-05-21T00:00:56Z</dcterms:created>
  <dcterms:modified xsi:type="dcterms:W3CDTF">2026-02-10T21:37:33Z</dcterms:modified>
</cp:coreProperties>
</file>